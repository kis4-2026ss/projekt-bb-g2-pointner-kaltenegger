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2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341-4151-AC92-29295EEA397E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341-4151-AC92-29295EEA397E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341-4151-AC92-29295EEA397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341-4151-AC92-29295EEA397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Minuten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1B9-4303-B7FC-1D4233E9588C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1B9-4303-B7FC-1D4233E9588C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1B9-4303-B7FC-1D4233E9588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3</c:v>
                </c:pt>
                <c:pt idx="2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1B9-4303-B7FC-1D4233E9588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Input-Tokens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BB9-4216-AD68-7B7FD29A9838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BB9-4216-AD68-7B7FD29A9838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BB9-4216-AD68-7B7FD29A983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449362</c:v>
                </c:pt>
                <c:pt idx="1">
                  <c:v>1514532</c:v>
                </c:pt>
                <c:pt idx="2">
                  <c:v>15784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BB9-4216-AD68-7B7FD29A98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97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2011680"/>
            <a:ext cx="5943600" cy="5943600"/>
          </a:xfrm>
          <a:prstGeom prst="ellipse">
            <a:avLst/>
          </a:prstGeom>
          <a:solidFill>
            <a:srgbClr val="16314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10058400" y="3291840"/>
            <a:ext cx="3840480" cy="3840480"/>
          </a:xfrm>
          <a:prstGeom prst="ellipse">
            <a:avLst/>
          </a:prstGeom>
          <a:solidFill>
            <a:srgbClr val="12385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9966960" y="1371600"/>
            <a:ext cx="310896" cy="31089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10972800" y="2286000"/>
            <a:ext cx="219456" cy="219456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Shape 4"/>
          <p:cNvSpPr/>
          <p:nvPr/>
        </p:nvSpPr>
        <p:spPr>
          <a:xfrm>
            <a:off x="10424160" y="731520"/>
            <a:ext cx="182880" cy="18288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10122408" y="1527048"/>
            <a:ext cx="960120" cy="86868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Shape 6"/>
          <p:cNvSpPr/>
          <p:nvPr/>
        </p:nvSpPr>
        <p:spPr>
          <a:xfrm>
            <a:off x="10122408" y="1527048"/>
            <a:ext cx="393192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64008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 OÖ · KIS4 · GRUPPE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3504" y="178308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Context Protocol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640080" y="269748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Effiziente KI-Integration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visuelle Frontend „Self-Healer“ Benchmark – drei KI-Workflows im datengestützten Vergleich.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4572000"/>
            <a:ext cx="292608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658368" y="4754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Andreas Pointner  ·  Sebastian Kaltenegger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5138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12-Minuten-Präsentation  ·  Juni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ZIELSETZUNG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Worum geht es – und was wollen wir herausfinden?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Ausgangspunkt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5440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KI-gestützte Entwicklungs-Workflows schießen aus dem Boden – vom reinen Code-Assistenten bis zum autonomen Agenten. Doch welcher Ansatz löst echte Frontend-Fehler am effizientesten? Darauf gibt es bisher kaum belastbare Antworten.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3337560"/>
            <a:ext cx="5440680" cy="1325880"/>
          </a:xfrm>
          <a:prstGeom prst="rect">
            <a:avLst/>
          </a:prstGeom>
          <a:solidFill>
            <a:srgbClr val="0F2540"/>
          </a:solidFill>
          <a:ln/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731520" y="3520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LEITFRAGE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3822192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55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Welcher KI-Workflow bietet die beste Balance aus Korrektheit, UI-Qualität und Kosteneffizienz?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63640" y="1508760"/>
            <a:ext cx="5440680" cy="315468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6492240" y="16916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Unser Ziel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029968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Workflows rein datengestützt vergleichen – anhand eines identischen Sets von Frontend-Fehlern. Gemessen wird an vier Kernmetriken: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92240" y="2916936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3" name="Text 11"/>
          <p:cNvSpPr/>
          <p:nvPr/>
        </p:nvSpPr>
        <p:spPr>
          <a:xfrm>
            <a:off x="6492240" y="29169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0" y="284378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Token-Verbrauch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Kostenvergleich (Input + Output)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92240" y="3337560"/>
            <a:ext cx="256032" cy="25603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6492240" y="3337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0" y="326440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Fehlerbehebungsquote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viele der Bugs wirklich behoben?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92240" y="3758184"/>
            <a:ext cx="256032" cy="256032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6492240" y="37581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0" y="3685032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Menschliche Interaktionen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oft muss der Mensch eingreifen?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92240" y="4178808"/>
            <a:ext cx="256032" cy="25603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6492240" y="4178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0" y="410565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Bearbeitungszeit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Fehlerbericht bis zum sauberen Build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Ablauf heute: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148840" y="5029200"/>
            <a:ext cx="1481328" cy="384048"/>
          </a:xfrm>
          <a:prstGeom prst="roundRect">
            <a:avLst>
              <a:gd name="adj" fmla="val 14286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6" name="Text 24"/>
          <p:cNvSpPr/>
          <p:nvPr/>
        </p:nvSpPr>
        <p:spPr>
          <a:xfrm>
            <a:off x="2148840" y="5029200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611880" y="5029200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›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776472" y="5029200"/>
            <a:ext cx="1481328" cy="384048"/>
          </a:xfrm>
          <a:prstGeom prst="roundRect">
            <a:avLst>
              <a:gd name="adj" fmla="val 14286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3776472" y="5029200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ist MCP?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239512" y="5029200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›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04104" y="5029200"/>
            <a:ext cx="1481328" cy="384048"/>
          </a:xfrm>
          <a:prstGeom prst="roundRect">
            <a:avLst>
              <a:gd name="adj" fmla="val 14286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5404104" y="5029200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Versuchsaufbau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867144" y="5029200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›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031736" y="5029200"/>
            <a:ext cx="1481328" cy="384048"/>
          </a:xfrm>
          <a:prstGeom prst="roundRect">
            <a:avLst>
              <a:gd name="adj" fmla="val 14286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5" name="Text 33"/>
          <p:cNvSpPr/>
          <p:nvPr/>
        </p:nvSpPr>
        <p:spPr>
          <a:xfrm>
            <a:off x="7031736" y="5029200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Workflows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494776" y="5029200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›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659368" y="5029200"/>
            <a:ext cx="1481328" cy="384048"/>
          </a:xfrm>
          <a:prstGeom prst="roundRect">
            <a:avLst>
              <a:gd name="adj" fmla="val 14286"/>
            </a:avLst>
          </a:prstGeom>
          <a:solidFill>
            <a:srgbClr val="E6FBF6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8" name="Text 36"/>
          <p:cNvSpPr/>
          <p:nvPr/>
        </p:nvSpPr>
        <p:spPr>
          <a:xfrm>
            <a:off x="8659368" y="5029200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0122408" y="5029200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›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10287000" y="5029200"/>
            <a:ext cx="1481328" cy="384048"/>
          </a:xfrm>
          <a:prstGeom prst="roundRect">
            <a:avLst>
              <a:gd name="adj" fmla="val 14286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1" name="Text 39"/>
          <p:cNvSpPr/>
          <p:nvPr/>
        </p:nvSpPr>
        <p:spPr>
          <a:xfrm>
            <a:off x="10287000" y="5029200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LLM ohne Kontext arbeitet blind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Standard-LLM sieht nur den Code im Editor. Es kann die laufende Anwendung nicht öffnen, keine Konsolen-Logs lesen und keine visuellen Fehler erkennen.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78992" y="26609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Sieht keine Laufzeit-Fehler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78992" y="293522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Konsolen-Errors &amp; Warnings bleiben unsichtbar.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465576"/>
            <a:ext cx="384048" cy="384048"/>
          </a:xfrm>
          <a:prstGeom prst="ellipse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54864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78992" y="34107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Sieht kein gerendertes UI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368503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Layout-Brüche &amp; ungestylte Elemente fallen nicht auf.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215384"/>
            <a:ext cx="384048" cy="384048"/>
          </a:xfrm>
          <a:prstGeom prst="ellipse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4864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8992" y="4160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nicht selbst verifizieren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78992" y="44348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Korrektur muss ein Mensch testen und rückmelden.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5532120" cy="324612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Shape 16"/>
          <p:cNvSpPr/>
          <p:nvPr/>
        </p:nvSpPr>
        <p:spPr>
          <a:xfrm>
            <a:off x="6583680" y="2743200"/>
            <a:ext cx="1463040" cy="822960"/>
          </a:xfrm>
          <a:prstGeom prst="rect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6583680" y="27432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4652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Code-Dateien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823960" y="1783080"/>
            <a:ext cx="0" cy="2788920"/>
          </a:xfrm>
          <a:prstGeom prst="line">
            <a:avLst/>
          </a:prstGeom>
          <a:noFill/>
          <a:ln w="254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8458200" y="155448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372600" y="2057400"/>
            <a:ext cx="196596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9372600" y="2057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/ UI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372600" y="2926080"/>
            <a:ext cx="196596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6" name="Text 24"/>
          <p:cNvSpPr/>
          <p:nvPr/>
        </p:nvSpPr>
        <p:spPr>
          <a:xfrm>
            <a:off x="9372600" y="29260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Konsolen-Logs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372600" y="3794760"/>
            <a:ext cx="196596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9372600" y="379476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DOM-Styles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576072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0" name="Text 28"/>
          <p:cNvSpPr/>
          <p:nvPr/>
        </p:nvSpPr>
        <p:spPr>
          <a:xfrm>
            <a:off x="713232" y="572414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teuren Fehler sind genau die, die man sehen muss. Ohne Laufzeit-Kontext bleibt der Mensch das Auge des LLM – langsam und fehleranfällig.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MCP: Die standardisierte Brücke zwischen KI und Werkzeugen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Model Context Protocol verbindet den KI-Agenten über eine einheitliche Schnittstelle mit externen Tools – statt vieler individueller Integrationen ein gemeinsamer „USB-C-Stecker“ für KI.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0F2540"/>
          </a:solidFill>
          <a:ln/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KI-AGENT
</a:t>
            </a: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0" y="2743200"/>
            <a:ext cx="3017520" cy="1645920"/>
          </a:xfrm>
          <a:prstGeom prst="roundRect">
            <a:avLst>
              <a:gd name="adj" fmla="val 4444"/>
            </a:avLst>
          </a:prstGeom>
          <a:solidFill>
            <a:srgbClr val="0D9488"/>
          </a:solidFill>
          <a:ln/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572000" y="27432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MCP-SERVER
</a:t>
            </a:r>
            <a:r>
              <a:rPr lang="en-US" sz="1100" dirty="0">
                <a:solidFill>
                  <a:srgbClr val="E6F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Browser-Controller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926080" y="3566160"/>
            <a:ext cx="1645920" cy="0"/>
          </a:xfrm>
          <a:prstGeom prst="line">
            <a:avLst/>
          </a:prstGeom>
          <a:noFill/>
          <a:ln w="31750">
            <a:solidFill>
              <a:srgbClr val="0F254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Shape 8"/>
          <p:cNvSpPr/>
          <p:nvPr/>
        </p:nvSpPr>
        <p:spPr>
          <a:xfrm>
            <a:off x="7589520" y="3566160"/>
            <a:ext cx="141732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Shape 9"/>
          <p:cNvSpPr/>
          <p:nvPr/>
        </p:nvSpPr>
        <p:spPr>
          <a:xfrm>
            <a:off x="7589520" y="3566160"/>
            <a:ext cx="141732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Shape 10"/>
          <p:cNvSpPr/>
          <p:nvPr/>
        </p:nvSpPr>
        <p:spPr>
          <a:xfrm>
            <a:off x="7589520" y="3566160"/>
            <a:ext cx="1417320" cy="82296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9006840" y="2221992"/>
            <a:ext cx="27432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9006840" y="222199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&amp; DOM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006840" y="3090672"/>
            <a:ext cx="27432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9006840" y="309067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Konsolen-Logs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006840" y="3959352"/>
            <a:ext cx="27432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9006840" y="395935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Dateisystem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576072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713232" y="572414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Protokoll, viele Werkzeuge: Der Agent erhält Augen (UI), Ohren (Logs) und Hände (Datei-Patches) – die Voraussetzung für echte Selbstheilung.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708F5D4E-CEF1-07B1-0529-9C6009D1629D}"/>
              </a:ext>
            </a:extLst>
          </p:cNvPr>
          <p:cNvSpPr/>
          <p:nvPr/>
        </p:nvSpPr>
        <p:spPr>
          <a:xfrm flipV="1">
            <a:off x="7589520" y="2496312"/>
            <a:ext cx="1417320" cy="1069848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VERSUCHSAUFBAU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Fehler-Set, drei Workflows, vier Metriken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23360" y="1417320"/>
            <a:ext cx="4114800" cy="868680"/>
          </a:xfrm>
          <a:prstGeom prst="roundRect">
            <a:avLst>
              <a:gd name="adj" fmla="val 8421"/>
            </a:avLst>
          </a:prstGeom>
          <a:solidFill>
            <a:srgbClr val="0F2540"/>
          </a:solidFill>
          <a:ln/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4023360" y="14173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Fehlerhafte Basis-App  </a:t>
            </a:r>
            <a:r>
              <a:rPr lang="en-US" sz="1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(Angular)</a:t>
            </a:r>
            <a:endParaRPr lang="en-US" sz="15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versteckte Bugs · identische Codebasis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194560" y="2331720"/>
            <a:ext cx="0" cy="45720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3108960" cy="18288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3108960" cy="9144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868680" y="3017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327355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 Code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3767328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Standard-LLM, nur Text-Dateien. Kein Zugriff auf App oder Logs.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99048" y="2331720"/>
            <a:ext cx="0" cy="45720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4544568" y="2834640"/>
            <a:ext cx="3108960" cy="18288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4544568" y="2834640"/>
            <a:ext cx="3108960" cy="914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773168" y="3017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73168" y="327355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MCP-Server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73168" y="3767328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mit Playwright-MCP: liest Logs &amp; DOM, patcht und testet selbst.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012680" y="2331720"/>
            <a:ext cx="0" cy="457200"/>
          </a:xfrm>
          <a:prstGeom prst="line">
            <a:avLst/>
          </a:prstGeom>
          <a:noFill/>
          <a:ln w="25400">
            <a:solidFill>
              <a:srgbClr val="E07A5F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Shape 17"/>
          <p:cNvSpPr/>
          <p:nvPr/>
        </p:nvSpPr>
        <p:spPr>
          <a:xfrm>
            <a:off x="8458200" y="2834640"/>
            <a:ext cx="3108960" cy="18288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0" name="Shape 18"/>
          <p:cNvSpPr/>
          <p:nvPr/>
        </p:nvSpPr>
        <p:spPr>
          <a:xfrm>
            <a:off x="8458200" y="2834640"/>
            <a:ext cx="3108960" cy="9144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8686800" y="3017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0" y="327355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+ Screenshots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686800" y="3767328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Multimodaler Chat: Code-Text plus manuell hochgeladene PNG-Screenshots.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4892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Gemessene Metriken: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Token-Verbrauch · Fehlerbehebungsquote · Menschliche Interaktionen · Bearbeitungszeit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52303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Identische Bedingungen: Gemini 3.1 Flash Lite (Denk-Level Medium) · Playwright MCP · VSCode · Google AI Studio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FEHLER-SET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gezielt injizierte Defekte in drei Kategorien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61188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3611880" cy="640080"/>
          </a:xfrm>
          <a:prstGeom prst="rect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Funktional / Logik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58952" y="2459736"/>
            <a:ext cx="146304" cy="146304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1051560" y="23682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Falsches Löschen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58952" y="2971800"/>
            <a:ext cx="146304" cy="146304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1051560" y="2880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Massen-Update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8952" y="3483864"/>
            <a:ext cx="146304" cy="146304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1051560" y="33924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Fehlende Validierung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58952" y="3995928"/>
            <a:ext cx="146304" cy="146304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1051560" y="39044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Kaputte Filter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279392" y="1600200"/>
            <a:ext cx="361188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6" name="Shape 14"/>
          <p:cNvSpPr/>
          <p:nvPr/>
        </p:nvSpPr>
        <p:spPr>
          <a:xfrm>
            <a:off x="4279392" y="1600200"/>
            <a:ext cx="3611880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4507992" y="1600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Layout / Responsive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4535424" y="2459736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4828032" y="23682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Text-Overflow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535424" y="2971800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4828032" y="2880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Überlappende Header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35424" y="3483864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4828032" y="33924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Zerstörte Buttons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055864" y="1600200"/>
            <a:ext cx="361188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5" name="Shape 23"/>
          <p:cNvSpPr/>
          <p:nvPr/>
        </p:nvSpPr>
        <p:spPr>
          <a:xfrm>
            <a:off x="8055864" y="1600200"/>
            <a:ext cx="3611880" cy="64008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6" name="Text 24"/>
          <p:cNvSpPr/>
          <p:nvPr/>
        </p:nvSpPr>
        <p:spPr>
          <a:xfrm>
            <a:off x="8284464" y="1600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Ungestylte UI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8311896" y="2459736"/>
            <a:ext cx="146304" cy="146304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8604504" y="23682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Fälligkeitsdatum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311896" y="2971800"/>
            <a:ext cx="146304" cy="146304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0" name="Text 28"/>
          <p:cNvSpPr/>
          <p:nvPr/>
        </p:nvSpPr>
        <p:spPr>
          <a:xfrm>
            <a:off x="8604504" y="2880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Dropdown-Priorität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311896" y="3483864"/>
            <a:ext cx="146304" cy="146304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8604504" y="33924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„Liste leeren“-Button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02920" y="576072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713232" y="572414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Bewusst gemischt: Logik-Bugs sind im Code sichtbar – Layout- und Style-Fehler nur im laufenden UI. Genau hier trennt sich die Spreu vom Weizen.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1 · NUR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Reiner Code-Kontext – das LLM als „blinder“ Editor-Assistent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mit Zugriff auf den kompletten src/-Ordner. Kein Zugriff auf laufende App oder Konsole.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074920" cy="27432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Vorgehen &amp; Prompts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292608" cy="292608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24712" y="2414016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1 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„Senior Software Engineer, behebe Logik-, Layout- &amp; UI-Fehler.“ → erzeugt Test-Einträge, optische Mängel bleiben.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3182112"/>
            <a:ext cx="292608" cy="292608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73152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24712" y="3127248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2 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Hinweis auf Layout-Probleme + ungestylte Elemente (mit Bildern). → „Liste leeren“-Button &amp; Overflow gefixt.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3895344"/>
            <a:ext cx="292608" cy="292608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731520" y="3895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3840480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3 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 bei kleinem Screen + leere TODOs verhindern + ungestylte Elemente suchen. → alle Fehler behoben.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806440" y="1920240"/>
            <a:ext cx="5897880" cy="1298448"/>
          </a:xfrm>
          <a:prstGeom prst="rect">
            <a:avLst/>
          </a:prstGeom>
          <a:solidFill>
            <a:srgbClr val="ECFDF5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6007608" y="20116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Was gut funktioniert hat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80760" y="2331720"/>
            <a:ext cx="5394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Konnte npm install &amp; build selbst ausführen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schnelle Antwortzeiten (20–60 s)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Testen dauerte länger als eine neue Version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806440" y="3364992"/>
            <a:ext cx="5897880" cy="1298448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6007608" y="3456432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  Was schwierig war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080760" y="3776472"/>
            <a:ext cx="5394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Erkannte UI-/Style-Probleme nicht von selbst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mussten explizit benannt werden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 musste jede Iteration manuell testen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864608"/>
            <a:ext cx="36118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685800" y="486460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79392" y="4864608"/>
            <a:ext cx="36118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462272" y="486460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 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055864" y="4864608"/>
            <a:ext cx="36118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8238744" y="486460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~449 k 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Input-Tokens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2920" y="562356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713232" y="558698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Solide bei Logik-Bugs – aber bei allem Visuellen braucht das blinde LLM den Menschen als Augen.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2 · MCP-SERVER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Autonomer Self-Healing-Zyklus: Analysieren → Beheben → Verifizieren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+ Playwright MCP-Server. Der Agent lädt das Frontend, inspiziert DOM &amp; Konsole selbst.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074920" cy="27432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Vorgehen &amp; Prompts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292608" cy="29260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24712" y="2414016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1 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Self-Healing-Auftrag: via Playwright Konsole/DOM prüfen, Dateien patchen, Seite neu laden &amp; verifizieren – Zyklus wiederholen.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292608" cy="29260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731520" y="3429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24712" y="3374136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2 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Restliche Punkte benannt (lange Texte, ungestylte Elemente, kleiner Screen, leere Validierung). → Agent testete selbst per Screenshot.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06440" y="1920240"/>
            <a:ext cx="5897880" cy="1298448"/>
          </a:xfrm>
          <a:prstGeom prst="rect">
            <a:avLst/>
          </a:prstGeom>
          <a:solidFill>
            <a:srgbClr val="ECFDF5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6007608" y="20116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Was gut funktioniert hat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80760" y="2331720"/>
            <a:ext cx="5394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Verifizierte sich selbst – kaum Kontrolle nötig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Öffnete Browser &amp; machte Screenshots autonom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Wenigste Prompts (2), schnellste Zeit (3 min)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806440" y="3364992"/>
            <a:ext cx="5897880" cy="1298448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6007608" y="3456432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  Was schwierig 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80760" y="3776472"/>
            <a:ext cx="5394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mussten dennoch präzise benannt werden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Höchster Token-Verbrauch (~1,5 M)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Einmaliges MCP-Setup erforderlich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864608"/>
            <a:ext cx="36118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685800" y="486460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79392" y="4864608"/>
            <a:ext cx="36118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4462272" y="486460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min 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055864" y="4864608"/>
            <a:ext cx="36118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8238744" y="486460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02920" y="562356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6" name="Text 24"/>
          <p:cNvSpPr/>
          <p:nvPr/>
        </p:nvSpPr>
        <p:spPr>
          <a:xfrm>
            <a:off x="713232" y="558698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verschiebt die Verifikation vom Menschen zur Maschine – der eigentliche Produktivitäts-Hebel.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3 · CHAT + SCREENSHOTS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Multimodaler Chat – maximale Zugänglichkeit, maximaler Handarbeit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Studio. Code-Text plus manuell erstellte PNG-Screenshots werden in den Chat hochgeladen.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074920" cy="27432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Vorgehen &amp; Prompts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292608" cy="292608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24712" y="2414016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1 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Gleicher Engineer-Prompt + Screenshot der App. → Button verbessert, aber Header überlappt weiter.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3182112"/>
            <a:ext cx="292608" cy="292608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73152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24712" y="3127248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2 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Layout-Screenshots nachgereicht. → grobe Layoutprobleme weitgehend behoben.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3895344"/>
            <a:ext cx="292608" cy="292608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731520" y="3895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3840480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3 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Screen + leere TODOs + ungestylte Elemente. → alle Fehler behoben.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806440" y="1920240"/>
            <a:ext cx="5897880" cy="1298448"/>
          </a:xfrm>
          <a:prstGeom prst="rect">
            <a:avLst/>
          </a:prstGeom>
          <a:solidFill>
            <a:srgbClr val="ECFDF5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6007608" y="20116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Was gut funktioniert hat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80760" y="2331720"/>
            <a:ext cx="5394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nötig – jeder kann es nutzen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Kurze Antwortzeiten (6–7 s)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Nachvollziehbare Problembeschreibungen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806440" y="3364992"/>
            <a:ext cx="5897880" cy="1298448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6007608" y="3456432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  Was schwierig war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080760" y="3776472"/>
            <a:ext cx="5394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Code-Einfügen mühsam (Stelle oft unklar)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&amp; Uploads sehr zeitaufwendig</a:t>
            </a:r>
            <a:endParaRPr lang="en-US" sz="1150" dirty="0"/>
          </a:p>
          <a:p>
            <a:pPr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Erkannte Design-Probleme kaum selbst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864608"/>
            <a:ext cx="36118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685800" y="486460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79392" y="4864608"/>
            <a:ext cx="36118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462272" y="486460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 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055864" y="4864608"/>
            <a:ext cx="36118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8238744" y="486460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~20,6 k 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2920" y="562356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713232" y="558698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 Hürde, höchster Handaufwand: Was an Setup gespart wird, kostet später teure Menschenzeit.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ALLE DREI WORKFLOWS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Vom kaputten Seed zur sauberen App – am Ende schaffen es alle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 · injizierte Defekte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5486400" cy="1508760"/>
          </a:xfrm>
          <a:prstGeom prst="rect">
            <a:avLst/>
          </a:prstGeom>
          <a:solidFill>
            <a:srgbClr val="F4F7FA"/>
          </a:solidFill>
          <a:ln w="15875">
            <a:solidFill>
              <a:srgbClr val="FCA5A5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pic>
        <p:nvPicPr>
          <p:cNvPr id="6" name="Image 0" descr="/sessions/ecstatic-serene-galileo/mnt/outputs/img/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95728"/>
            <a:ext cx="5212080" cy="6217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127248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Ungestylter „Liste leeren“-Button bricht aus dem Layout, leere Liste, Header überlappt.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26364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NACHHER · selbstgeheilt (WF 2 · MCP)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2103120"/>
            <a:ext cx="5486400" cy="2926080"/>
          </a:xfrm>
          <a:prstGeom prst="rect">
            <a:avLst/>
          </a:prstGeom>
          <a:solidFill>
            <a:srgbClr val="F4F7FA"/>
          </a:solidFill>
          <a:ln w="19050">
            <a:solidFill>
              <a:srgbClr val="5EEAD4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pic>
        <p:nvPicPr>
          <p:cNvPr id="10" name="Image 1" descr="/sessions/ecstatic-serene-galileo/mnt/outputs/img/aft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46520" y="2240280"/>
            <a:ext cx="5120640" cy="26517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3794760"/>
            <a:ext cx="5486400" cy="1234440"/>
          </a:xfrm>
          <a:prstGeom prst="rect">
            <a:avLst/>
          </a:prstGeom>
          <a:solidFill>
            <a:srgbClr val="0F2540"/>
          </a:solidFill>
          <a:ln/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2" name="Text 8"/>
          <p:cNvSpPr/>
          <p:nvPr/>
        </p:nvSpPr>
        <p:spPr>
          <a:xfrm>
            <a:off x="731520" y="395020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Fehler behoben</a:t>
            </a:r>
            <a:endParaRPr lang="en-US" sz="3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jedem der drei Workflows – die Korrektheit ist nicht der Differenzierer.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502920" y="576072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0"/>
          <p:cNvSpPr/>
          <p:nvPr/>
        </p:nvSpPr>
        <p:spPr>
          <a:xfrm>
            <a:off x="713232" y="572414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der reinen Fehlerquote sind alle gleich gut. Die entscheidende Frage lautet daher nicht „ob“, sondern „wie effizient“.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1 · MENSCHLICHE INTERAKTIONEN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erreicht das Ziel in den wenigsten Runden</a:t>
            </a:r>
            <a:endParaRPr lang="en-US" sz="27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02920" y="1600200"/>
          <a:ext cx="65836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006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Benötigte Prompts bis zur fehlerfreien App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406640" y="1600200"/>
            <a:ext cx="4297680" cy="32004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4"/>
          <p:cNvSpPr/>
          <p:nvPr/>
        </p:nvSpPr>
        <p:spPr>
          <a:xfrm>
            <a:off x="7635240" y="1783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Warum?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35240" y="2240280"/>
            <a:ext cx="3886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WF2 testet selbst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MCP-Agent verifiziert jede Korrektur autonom – der Mensch gibt nur die Richtung vor.
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WF1 &amp; WF3 brauchen Hinweise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 und Style-Fehler erkannten sie nicht selbst – sie mussten in den Prompts explizit benannt werden.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576072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7"/>
          <p:cNvSpPr/>
          <p:nvPr/>
        </p:nvSpPr>
        <p:spPr>
          <a:xfrm>
            <a:off x="713232" y="572414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Weniger Interaktionen = weniger Kontextwechsel für den Entwickler. Genau diese Unterbrechungen sind im Arbeitsalltag am teuersten.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2 · BEARBEITUNGSZEIT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ist am schnellsten – der Chat-Weg am langsamsten</a:t>
            </a:r>
            <a:endParaRPr lang="en-US" sz="27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02920" y="1600200"/>
          <a:ext cx="65836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006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Gesamtbearbeitungszeit in Minuten (Fehlerbericht → fehlerfreier Build)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406640" y="1600200"/>
            <a:ext cx="4297680" cy="150876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7" name="Text 4"/>
          <p:cNvSpPr/>
          <p:nvPr/>
        </p:nvSpPr>
        <p:spPr>
          <a:xfrm>
            <a:off x="7635240" y="176479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5×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635240" y="2441448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der Chat-Workflow erreichte MCP das Ergebnis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06640" y="3291840"/>
            <a:ext cx="4297680" cy="150876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0" name="Text 7"/>
          <p:cNvSpPr/>
          <p:nvPr/>
        </p:nvSpPr>
        <p:spPr>
          <a:xfrm>
            <a:off x="7635240" y="345643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635240" y="4133088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kostete WF3 – getrieben durch manuelles Screenshots-Erstellen &amp; Datei-Uploads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76072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3" name="Text 10"/>
          <p:cNvSpPr/>
          <p:nvPr/>
        </p:nvSpPr>
        <p:spPr>
          <a:xfrm>
            <a:off x="713232" y="572414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Chat-Workflow spart Setup, kostet aber Menschenzeit bei jedem Schritt. MCP investiert einmal ins Setup und automatisiert danach den teuersten Teil.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3 · TOKEN-ÖKONOMIE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Trade-off: MCP ist am token-intensivsten</a:t>
            </a:r>
            <a:endParaRPr lang="en-US" sz="27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02920" y="1554480"/>
          <a:ext cx="61264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6177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Verbrauchte Input-Tokens (Modell: Gemini 3.1 Flash Lite)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0" y="1508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 Session-Daten</a:t>
            </a:r>
            <a:endParaRPr lang="en-US" sz="1200" dirty="0"/>
          </a:p>
        </p:txBody>
      </p:sp>
      <p:pic>
        <p:nvPicPr>
          <p:cNvPr id="7" name="Image 0" descr="/sessions/ecstatic-serene-galileo/mnt/outputs/img/tok_wf2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0" y="1828800"/>
            <a:ext cx="2331720" cy="1472184"/>
          </a:xfrm>
          <a:prstGeom prst="rect">
            <a:avLst/>
          </a:prstGeom>
        </p:spPr>
      </p:pic>
      <p:pic>
        <p:nvPicPr>
          <p:cNvPr id="8" name="Image 1" descr="/sessions/ecstatic-serene-galileo/mnt/outputs/img/tok_wf1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326880" y="1874520"/>
            <a:ext cx="2331720" cy="149047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858000" y="331012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WF2 · MCP (59 Tool-Calls)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9326880" y="331012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WF1 · Nur Code (27 Tool-Calls)</a:t>
            </a:r>
            <a:endParaRPr lang="en-US" sz="850" dirty="0"/>
          </a:p>
        </p:txBody>
      </p:sp>
      <p:sp>
        <p:nvSpPr>
          <p:cNvPr id="11" name="Shape 6"/>
          <p:cNvSpPr/>
          <p:nvPr/>
        </p:nvSpPr>
        <p:spPr>
          <a:xfrm>
            <a:off x="6858000" y="3703320"/>
            <a:ext cx="4846320" cy="91440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7"/>
          <p:cNvSpPr/>
          <p:nvPr/>
        </p:nvSpPr>
        <p:spPr>
          <a:xfrm>
            <a:off x="7040880" y="3776472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Achtung Vergleichbarkeit: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Agenten (WF1/2) lesen Dateien &amp; Logs automatisch – der Chat (WF3) nur manuell Eingefügtes. Tokens ≠ Gesamtkosten.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02920" y="576072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9"/>
          <p:cNvSpPr/>
          <p:nvPr/>
        </p:nvSpPr>
        <p:spPr>
          <a:xfrm>
            <a:off x="713232" y="572414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tauscht günstige Tokens gegen teure Menschenzeit. Bei realen Entwickler-Stundensätzen ist das fast immer der bessere Deal.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Gesamtbild: MCP führt in jeder Effizienz-Dimension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063240" cy="457200"/>
          </a:xfrm>
          <a:prstGeom prst="rect">
            <a:avLst/>
          </a:prstGeom>
          <a:solidFill>
            <a:srgbClr val="0F254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566160" y="1554480"/>
            <a:ext cx="2834640" cy="457200"/>
          </a:xfrm>
          <a:prstGeom prst="rect">
            <a:avLst/>
          </a:prstGeom>
          <a:solidFill>
            <a:srgbClr val="0F254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37033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WF1 · Nur Code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2834640" cy="457200"/>
          </a:xfrm>
          <a:prstGeom prst="rect">
            <a:avLst/>
          </a:prstGeom>
          <a:solidFill>
            <a:srgbClr val="0F254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653796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WF2 · MCP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235440" y="1554480"/>
            <a:ext cx="2834640" cy="457200"/>
          </a:xfrm>
          <a:prstGeom prst="rect">
            <a:avLst/>
          </a:prstGeom>
          <a:solidFill>
            <a:srgbClr val="0F254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937260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WF3 · Chat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011680"/>
            <a:ext cx="3063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Text 11"/>
          <p:cNvSpPr/>
          <p:nvPr/>
        </p:nvSpPr>
        <p:spPr>
          <a:xfrm>
            <a:off x="640080" y="2011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behoben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66160" y="2011680"/>
            <a:ext cx="2834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3703320" y="2011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0" y="2011680"/>
            <a:ext cx="2834640" cy="457200"/>
          </a:xfrm>
          <a:prstGeom prst="rect">
            <a:avLst/>
          </a:prstGeom>
          <a:solidFill>
            <a:srgbClr val="E6FBF6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6537960" y="2011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235440" y="2011680"/>
            <a:ext cx="2834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9372600" y="2011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2468880"/>
            <a:ext cx="306324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640080" y="2468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Menschl. Interaktionen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66160" y="2468880"/>
            <a:ext cx="283464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370332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Prompts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0" y="2468880"/>
            <a:ext cx="2834640" cy="457200"/>
          </a:xfrm>
          <a:prstGeom prst="rect">
            <a:avLst/>
          </a:prstGeom>
          <a:solidFill>
            <a:srgbClr val="E6FBF6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653796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Prompts</a:t>
            </a: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★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235440" y="2468880"/>
            <a:ext cx="283464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937260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Prompts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02920" y="2926080"/>
            <a:ext cx="3063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640080" y="29260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Bearbeitungszeit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566160" y="2926080"/>
            <a:ext cx="2834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1" name="Text 29"/>
          <p:cNvSpPr/>
          <p:nvPr/>
        </p:nvSpPr>
        <p:spPr>
          <a:xfrm>
            <a:off x="37033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0" y="2926080"/>
            <a:ext cx="2834640" cy="457200"/>
          </a:xfrm>
          <a:prstGeom prst="rect">
            <a:avLst/>
          </a:prstGeom>
          <a:solidFill>
            <a:srgbClr val="E6FBF6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3" name="Text 31"/>
          <p:cNvSpPr/>
          <p:nvPr/>
        </p:nvSpPr>
        <p:spPr>
          <a:xfrm>
            <a:off x="653796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★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9235440" y="2926080"/>
            <a:ext cx="2834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5" name="Text 33"/>
          <p:cNvSpPr/>
          <p:nvPr/>
        </p:nvSpPr>
        <p:spPr>
          <a:xfrm>
            <a:off x="937260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02920" y="3383280"/>
            <a:ext cx="306324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7" name="Text 35"/>
          <p:cNvSpPr/>
          <p:nvPr/>
        </p:nvSpPr>
        <p:spPr>
          <a:xfrm>
            <a:off x="640080" y="33832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Autonome Verifikation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566160" y="3383280"/>
            <a:ext cx="283464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9" name="Text 37"/>
          <p:cNvSpPr/>
          <p:nvPr/>
        </p:nvSpPr>
        <p:spPr>
          <a:xfrm>
            <a:off x="3703320" y="3383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400800" y="3383280"/>
            <a:ext cx="2834640" cy="457200"/>
          </a:xfrm>
          <a:prstGeom prst="rect">
            <a:avLst/>
          </a:prstGeom>
          <a:solidFill>
            <a:srgbClr val="E6FBF6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1" name="Text 39"/>
          <p:cNvSpPr/>
          <p:nvPr/>
        </p:nvSpPr>
        <p:spPr>
          <a:xfrm>
            <a:off x="6537960" y="3383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★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9235440" y="3383280"/>
            <a:ext cx="283464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3" name="Text 41"/>
          <p:cNvSpPr/>
          <p:nvPr/>
        </p:nvSpPr>
        <p:spPr>
          <a:xfrm>
            <a:off x="9372600" y="3383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02920" y="3840480"/>
            <a:ext cx="3063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5" name="Text 43"/>
          <p:cNvSpPr/>
          <p:nvPr/>
        </p:nvSpPr>
        <p:spPr>
          <a:xfrm>
            <a:off x="640080" y="3840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Input-Tokens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566160" y="3840480"/>
            <a:ext cx="2834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7" name="Text 45"/>
          <p:cNvSpPr/>
          <p:nvPr/>
        </p:nvSpPr>
        <p:spPr>
          <a:xfrm>
            <a:off x="370332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~449 k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400800" y="3840480"/>
            <a:ext cx="2834640" cy="457200"/>
          </a:xfrm>
          <a:prstGeom prst="rect">
            <a:avLst/>
          </a:prstGeom>
          <a:solidFill>
            <a:srgbClr val="E6FBF6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9" name="Text 47"/>
          <p:cNvSpPr/>
          <p:nvPr/>
        </p:nvSpPr>
        <p:spPr>
          <a:xfrm>
            <a:off x="653796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~1,51 M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9235440" y="3840480"/>
            <a:ext cx="2834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51" name="Text 49"/>
          <p:cNvSpPr/>
          <p:nvPr/>
        </p:nvSpPr>
        <p:spPr>
          <a:xfrm>
            <a:off x="93726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 k</a:t>
            </a: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★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502920" y="4297680"/>
            <a:ext cx="306324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53" name="Text 51"/>
          <p:cNvSpPr/>
          <p:nvPr/>
        </p:nvSpPr>
        <p:spPr>
          <a:xfrm>
            <a:off x="640080" y="4297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Setup-Aufwand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566160" y="4297680"/>
            <a:ext cx="283464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55" name="Text 53"/>
          <p:cNvSpPr/>
          <p:nvPr/>
        </p:nvSpPr>
        <p:spPr>
          <a:xfrm>
            <a:off x="37033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gering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6400800" y="4297680"/>
            <a:ext cx="2834640" cy="457200"/>
          </a:xfrm>
          <a:prstGeom prst="rect">
            <a:avLst/>
          </a:prstGeom>
          <a:solidFill>
            <a:srgbClr val="E6FBF6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57" name="Text 55"/>
          <p:cNvSpPr/>
          <p:nvPr/>
        </p:nvSpPr>
        <p:spPr>
          <a:xfrm>
            <a:off x="653796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9235440" y="4297680"/>
            <a:ext cx="283464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59" name="Text 57"/>
          <p:cNvSpPr/>
          <p:nvPr/>
        </p:nvSpPr>
        <p:spPr>
          <a:xfrm>
            <a:off x="937260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keiner</a:t>
            </a: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★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6400800" y="1554480"/>
            <a:ext cx="2834640" cy="3200400"/>
          </a:xfrm>
          <a:prstGeom prst="rect">
            <a:avLst/>
          </a:prstGeom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1" name="Text 59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= bester Wert der Zeile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02920" y="576072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3" name="Text 61"/>
          <p:cNvSpPr/>
          <p:nvPr/>
        </p:nvSpPr>
        <p:spPr>
          <a:xfrm>
            <a:off x="713232" y="572414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verliert nur eine Disziplin – den Token-Verbrauch. In allen Dimensionen, die Entwicklerzeit kosten, liegt es klar vorn.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HANDLUNGSEMPFEHLUNG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Wann welcher Workflow – die Entscheidungslogik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6118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3611880" cy="5943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wählen, wenn…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23957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06424" y="237744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Entwicklung &amp; Self-Healing gefragt sind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58952" y="30540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06424" y="303580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Laufzeit-Verhalten (UI, Logs) zählt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58952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06424" y="3694176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Entwicklerzeit teurer ist als Tokens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79392" y="1600200"/>
            <a:ext cx="36118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4279392" y="1600200"/>
            <a:ext cx="3611880" cy="59436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507992" y="16002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Nur-Code reicht, wenn…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35424" y="23957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82896" y="237744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rein im Code sichtbar sind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35424" y="30540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82896" y="303580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Tooling-Setup vermieden werden soll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35424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82896" y="3694176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 Logik-Fixes genügen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055864" y="1600200"/>
            <a:ext cx="36118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3" name="Shape 21"/>
          <p:cNvSpPr/>
          <p:nvPr/>
        </p:nvSpPr>
        <p:spPr>
          <a:xfrm>
            <a:off x="8055864" y="1600200"/>
            <a:ext cx="3611880" cy="59436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8284464" y="16002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nutzen, wenn…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311896" y="23957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659368" y="237744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möglich ist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11896" y="30540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659368" y="303580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ein Browser-LLM verfügbar ist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311896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59368" y="3694176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Einmal-Korrekturen statt Iteration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920" y="576072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713232" y="572414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ist kein Allheilmittel, aber für moderne agentische Dev-Workflows der neue Standard – überall dort, wo die KI sehen und selbst testen muss.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– Effiziente KI-Integration  ·  Visual Frontend Self-Healer Benchmark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185855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474720"/>
            <a:ext cx="5943600" cy="5943600"/>
          </a:xfrm>
          <a:prstGeom prst="ellipse">
            <a:avLst/>
          </a:prstGeom>
          <a:solidFill>
            <a:srgbClr val="16314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03504" y="123444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macht aus dem LLM einen eigenständigen Ingenieur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724912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64008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80160" y="267919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 Korrektheit   </a:t>
            </a: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drei Workflows behoben 10/10 Fehler – Qualität ist kein Unterscheidungsmerkmal.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438144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64008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80160" y="339242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 entscheidet   </a:t>
            </a: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gewinnt bei Interaktionen (2) und Zeit (3 min) durch autonome Verifikation.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151376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64008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80160" y="4105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Bewusster Trade-off   </a:t>
            </a: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Höherer Token-Verbrauch wird durch eingesparte, teurere Menschenzeit überkompensiert.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5074920"/>
            <a:ext cx="1088136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658368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Andreas Pointner · Sebastian Kaltenegger   —   Vielen Dank. Fragen?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1779</Words>
  <Application>Microsoft Office PowerPoint</Application>
  <PresentationFormat>Breitbild</PresentationFormat>
  <Paragraphs>299</Paragraphs>
  <Slides>16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 Context Protocol (MCP) – Effiziente KI-Integration</dc:title>
  <dc:subject>PptxGenJS Presentation</dc:subject>
  <dc:creator>Andreas Pointner, Sebastian Kaltenegger</dc:creator>
  <cp:lastModifiedBy>Kaltenegger Sebastian - s2410307017</cp:lastModifiedBy>
  <cp:revision>3</cp:revision>
  <dcterms:created xsi:type="dcterms:W3CDTF">2026-06-18T17:44:31Z</dcterms:created>
  <dcterms:modified xsi:type="dcterms:W3CDTF">2026-06-19T13:09:39Z</dcterms:modified>
</cp:coreProperties>
</file>