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Prompts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341-4151-AC92-29295EEA397E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41-4151-AC92-29295EEA397E}"/>
              </c:ext>
            </c:extLst>
          </c:dPt>
          <c:dPt>
            <c:idx val="2"/>
            <c:invertIfNegative val="0"/>
            <c:bubble3D val="0"/>
            <c:spPr>
              <a:solidFill>
                <a:srgbClr val="E07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341-4151-AC92-29295EEA397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WF1 · Nur Code</c:v>
                </c:pt>
                <c:pt idx="1">
                  <c:v>WF2 · MCP</c:v>
                </c:pt>
                <c:pt idx="2">
                  <c:v>WF3 · Chat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341-4151-AC92-29295EEA39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Minuten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B9-4303-B7FC-1D4233E9588C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B9-4303-B7FC-1D4233E9588C}"/>
              </c:ext>
            </c:extLst>
          </c:dPt>
          <c:dPt>
            <c:idx val="2"/>
            <c:invertIfNegative val="0"/>
            <c:bubble3D val="0"/>
            <c:spPr>
              <a:solidFill>
                <a:srgbClr val="E07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1B9-4303-B7FC-1D4233E9588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WF1 · Nur Code</c:v>
                </c:pt>
                <c:pt idx="1">
                  <c:v>WF2 · MCP</c:v>
                </c:pt>
                <c:pt idx="2">
                  <c:v>WF3 · Chat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1B9-4303-B7FC-1D4233E958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Input-Tokens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B9-4216-AD68-7B7FD29A9838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B9-4216-AD68-7B7FD29A9838}"/>
              </c:ext>
            </c:extLst>
          </c:dPt>
          <c:dPt>
            <c:idx val="2"/>
            <c:invertIfNegative val="0"/>
            <c:bubble3D val="0"/>
            <c:spPr>
              <a:solidFill>
                <a:srgbClr val="E07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B9-4216-AD68-7B7FD29A983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WF1 · Nur Code</c:v>
                </c:pt>
                <c:pt idx="1">
                  <c:v>WF2 · MCP</c:v>
                </c:pt>
                <c:pt idx="2">
                  <c:v>WF3 · Chat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449362</c:v>
                </c:pt>
                <c:pt idx="1">
                  <c:v>1514532</c:v>
                </c:pt>
                <c:pt idx="2">
                  <c:v>15784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B9-4216-AD68-7B7FD29A98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97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16314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12385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9966960" y="137160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10972800" y="2286000"/>
            <a:ext cx="219456" cy="219456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10424160" y="731520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10122408" y="1527048"/>
            <a:ext cx="960120" cy="8686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10122408" y="1527048"/>
            <a:ext cx="3931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 OÖ · KIS4 · GRUPPE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" y="17830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Context Protocol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Effiziente KI-Integration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8368" y="36118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visuelle Frontend „Self-Healer“ Benchmark – drei KI-Workflows im datengestützten Vergleich.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4572000"/>
            <a:ext cx="2926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658368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Pointner  ·  Sebastian Kaltenegger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5138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12-Minuten-Präsentation  ·  Juni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ZIELSETZUNG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Worum geht es – und was wollen wir herausfinden?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Ausgangspunkt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Entwicklungs-Workflows schießen aus dem Boden – vom reinen Code-Assistenten bis zum autonomen Agenten. Doch welcher Ansatz löst echte Frontend-Fehler am effizientesten? Darauf gibt es bisher kaum belastbare Antworten.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337560"/>
            <a:ext cx="5440680" cy="1325880"/>
          </a:xfrm>
          <a:prstGeom prst="rect">
            <a:avLst/>
          </a:prstGeom>
          <a:solidFill>
            <a:srgbClr val="0F2540"/>
          </a:solidFill>
          <a:ln/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LEITFRAGE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Welcher KI-Workflow bietet die beste Balance aus Korrektheit, UI-Qualität und Kosteneffizienz?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440680" cy="315468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649224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 Ziel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0299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Workflows rein datengestützt vergleichen – anhand eines identischen Sets von Frontend-Fehlern. Gemessen wird an vier Kernmetriken: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291693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6492240" y="2916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84378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Token-Verbrauch  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Kostenvergleich (Input + Output)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3337560"/>
            <a:ext cx="256032" cy="256032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649224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2644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Fehlerbehebungsquote  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viele der Bugs wirklich behoben?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375818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6492240" y="3758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36850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Menschliche Interaktionen  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oft muss der Mensch eingreifen?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178808"/>
            <a:ext cx="256032" cy="256032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6492240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410565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Bearbeitungszeit  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Fehlerbericht bis zum sauberen Build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 heute: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48840" y="502920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2148840" y="50292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11880" y="502920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›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76472" y="502920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3776472" y="50292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MCP?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39512" y="502920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›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04104" y="502920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5404104" y="50292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Versuchsaufbau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67144" y="502920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›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031736" y="502920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Text 33"/>
          <p:cNvSpPr/>
          <p:nvPr/>
        </p:nvSpPr>
        <p:spPr>
          <a:xfrm>
            <a:off x="7031736" y="50292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Workflows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94776" y="502920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›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659368" y="502920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E6FBF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8" name="Text 36"/>
          <p:cNvSpPr/>
          <p:nvPr/>
        </p:nvSpPr>
        <p:spPr>
          <a:xfrm>
            <a:off x="8659368" y="50292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122408" y="502920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›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287000" y="502920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1" name="Text 39"/>
          <p:cNvSpPr/>
          <p:nvPr/>
        </p:nvSpPr>
        <p:spPr>
          <a:xfrm>
            <a:off x="10287000" y="50292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LLM ohne Kontext arbeitet blind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Standard-LLM sieht nur den Code im Editor. Es kann die laufende Anwendung nicht öffnen, keine Konsolen-Logs lesen und keine visuellen Fehler erkennen.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15768"/>
            <a:ext cx="384048" cy="384048"/>
          </a:xfrm>
          <a:prstGeom prst="ellipse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5486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6609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Sieht keine Laufzeit-Fehler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9352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Konsolen-Errors &amp; Warnings bleiben unsichtbar.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465576"/>
            <a:ext cx="384048" cy="384048"/>
          </a:xfrm>
          <a:prstGeom prst="ellipse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3410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Sieht kein gerendertes UI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3685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Layout-Brüche &amp; ungestylte Elemente fallen nicht auf.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384048" cy="384048"/>
          </a:xfrm>
          <a:prstGeom prst="ellipse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54864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4160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 nicht selbst verifizieren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44348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Korrektur muss ein Mensch testen und rückmelden.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5532120" cy="324612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Shape 16"/>
          <p:cNvSpPr/>
          <p:nvPr/>
        </p:nvSpPr>
        <p:spPr>
          <a:xfrm>
            <a:off x="6583680" y="2743200"/>
            <a:ext cx="1463040" cy="822960"/>
          </a:xfrm>
          <a:prstGeom prst="rect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6583680" y="2743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Code-Dateien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23960" y="1783080"/>
            <a:ext cx="0" cy="2788920"/>
          </a:xfrm>
          <a:prstGeom prst="line">
            <a:avLst/>
          </a:prstGeom>
          <a:noFill/>
          <a:ln w="254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8458200" y="15544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372600" y="2057400"/>
            <a:ext cx="19659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9372600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UI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372600" y="2926080"/>
            <a:ext cx="19659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9372600" y="2926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Konsolen-Logs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372600" y="3794760"/>
            <a:ext cx="19659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9372600" y="3794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DOM-Styles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576072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713232" y="572414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teuren Fehler sind genau die, die man sehen muss. Ohne Laufzeit-Kontext bleibt der Mensch das Auge des LLM – langsam und fehleranfällig.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MCP: Die standardisierte Brücke zwischen KI und Werkzeugen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 Context Protocol verbindet den KI-Agenten über eine einheitliche Schnittstelle mit externen Tools – statt vieler individueller Integrationen ein gemeinsamer „USB-C-Stecker“ für KI.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0F2540"/>
          </a:solidFill>
          <a:ln/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
</a:t>
            </a: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2743200"/>
            <a:ext cx="3017520" cy="1645920"/>
          </a:xfrm>
          <a:prstGeom prst="roundRect">
            <a:avLst>
              <a:gd name="adj" fmla="val 4444"/>
            </a:avLst>
          </a:prstGeom>
          <a:solidFill>
            <a:srgbClr val="0D9488"/>
          </a:solidFill>
          <a:ln/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572000" y="27432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MCP-SERVER
</a:t>
            </a:r>
            <a:r>
              <a:rPr lang="en-US" sz="110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Browser-Controller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26080" y="3566160"/>
            <a:ext cx="1645920" cy="0"/>
          </a:xfrm>
          <a:prstGeom prst="line">
            <a:avLst/>
          </a:prstGeom>
          <a:noFill/>
          <a:ln w="31750">
            <a:solidFill>
              <a:srgbClr val="0F254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Shape 8"/>
          <p:cNvSpPr/>
          <p:nvPr/>
        </p:nvSpPr>
        <p:spPr>
          <a:xfrm>
            <a:off x="7589520" y="3566160"/>
            <a:ext cx="14173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Shape 9"/>
          <p:cNvSpPr/>
          <p:nvPr/>
        </p:nvSpPr>
        <p:spPr>
          <a:xfrm>
            <a:off x="7589520" y="3566160"/>
            <a:ext cx="14173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7589520" y="3566160"/>
            <a:ext cx="1417320" cy="82296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9006840" y="2221992"/>
            <a:ext cx="2743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9006840" y="222199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&amp; DOM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06840" y="3090672"/>
            <a:ext cx="2743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9006840" y="30906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Konsolen-Logs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3959352"/>
            <a:ext cx="2743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9006840" y="395935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Dateisystem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713232" y="572414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Protokoll, viele Werkzeuge: Der Agent erhält Augen (UI), Ohren (Logs) und Hände (Datei-Patches) – die Voraussetzung für echte Selbstheilung.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VERSUCHSAUFBAU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Fehler-Set, drei Workflows, vier Metriken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23360" y="14173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0F2540"/>
          </a:solidFill>
          <a:ln/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4023360" y="14173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Basis-App  </a:t>
            </a: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(Angular)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versteckte Bugs · identische Codebasis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94560" y="2331720"/>
            <a:ext cx="0" cy="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3108960" cy="1828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108960" cy="914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2735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 Code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76732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Standard-LLM, nur Text-Dateien. Kein Zugriff auf App oder Logs.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99048" y="2331720"/>
            <a:ext cx="0" cy="4572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4544568" y="2834640"/>
            <a:ext cx="3108960" cy="1828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4544568" y="2834640"/>
            <a:ext cx="3108960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4773168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73168" y="32735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MCP-Server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73168" y="376732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mit Playwright-MCP: liest Logs &amp; DOM, patcht und testet selbst.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12680" y="2331720"/>
            <a:ext cx="0" cy="45720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Shape 17"/>
          <p:cNvSpPr/>
          <p:nvPr/>
        </p:nvSpPr>
        <p:spPr>
          <a:xfrm>
            <a:off x="8458200" y="2834640"/>
            <a:ext cx="3108960" cy="1828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8458200" y="2834640"/>
            <a:ext cx="3108960" cy="9144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8686800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2735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+ Screenshots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0" y="376732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Multimodaler Chat: Code-Text plus manuell hochgeladene PNG-Screenshots.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Gemessene Metriken: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Token-Verbrauch · Fehlerbehebungsquote · Menschliche Interaktionen · Bearbeitungszeit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2303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Identische Bedingungen: Gemini 3.1 Flash Lite (Denk-Level Medium) · Playwright MCP · VSCode · Google AI Studio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FEHLER-SET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gezielt injizierte Defekte in drei Kategorien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611880" cy="640080"/>
          </a:xfrm>
          <a:prstGeom prst="rect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Funktional / Logik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58952" y="2459736"/>
            <a:ext cx="146304" cy="146304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1051560" y="2368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Falsches Löschen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8952" y="2971800"/>
            <a:ext cx="146304" cy="146304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105156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Massen-Update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8952" y="3483864"/>
            <a:ext cx="146304" cy="146304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1051560" y="33924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Validierung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8952" y="3995928"/>
            <a:ext cx="146304" cy="146304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1051560" y="39044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Kaputte Filter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79392" y="1600200"/>
            <a:ext cx="36118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6" name="Shape 14"/>
          <p:cNvSpPr/>
          <p:nvPr/>
        </p:nvSpPr>
        <p:spPr>
          <a:xfrm>
            <a:off x="4279392" y="1600200"/>
            <a:ext cx="361188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4507992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Layout / Responsive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35424" y="245973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4828032" y="2368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Text-Overflow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35424" y="297180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828032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Überlappende Header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35424" y="34838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4828032" y="33924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Zerstörte Buttons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55864" y="1600200"/>
            <a:ext cx="36118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5" name="Shape 23"/>
          <p:cNvSpPr/>
          <p:nvPr/>
        </p:nvSpPr>
        <p:spPr>
          <a:xfrm>
            <a:off x="8055864" y="1600200"/>
            <a:ext cx="3611880" cy="64008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8284464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Ungestylte UI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11896" y="2459736"/>
            <a:ext cx="146304" cy="146304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8604504" y="2368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Fälligkeitsdatum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311896" y="2971800"/>
            <a:ext cx="146304" cy="146304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8604504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Dropdown-Priorität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311896" y="3483864"/>
            <a:ext cx="146304" cy="146304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8604504" y="33924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„Liste leeren“-Button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02920" y="576072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713232" y="572414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 gemischt: Logik-Bugs sind im Code sichtbar – Layout- und Style-Fehler nur im laufenden UI. Genau hier trennt sich die Spreu vom Weizen.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· NUR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Reiner Code-Kontext – das LLM als „blinder“ Editor-Assistent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 mit Zugriff auf den kompletten src/-Ordner. Kein Zugriff auf laufende App oder Konsole.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074920" cy="27432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Vorgehen &amp; Prompts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292608" cy="292608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4712" y="2414016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„Senior Software Engineer, behebe Logik-, Layout- &amp; UI-Fehler.“ → erzeugt Test-Einträge, optische Mängel bleiben.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182112"/>
            <a:ext cx="292608" cy="292608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73152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24712" y="3127248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 auf Layout-Probleme + ungestylte Elemente (mit Bildern). → „Liste leeren“-Button &amp; Overflow gefixt.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895344"/>
            <a:ext cx="292608" cy="292608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73152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384048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3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bei kleinem Screen + leere TODOs verhindern + ungestylte Elemente suchen. → alle Fehler behoben.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1920240"/>
            <a:ext cx="5897880" cy="1298448"/>
          </a:xfrm>
          <a:prstGeom prst="rect">
            <a:avLst/>
          </a:prstGeom>
          <a:solidFill>
            <a:srgbClr val="ECFDF5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6007608" y="20116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Was gut funktioniert hat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33172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Konnte npm install &amp; build selbst ausführen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schnelle Antwortzeiten (20–60 s)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 dauerte länger als eine neue Version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06440" y="3364992"/>
            <a:ext cx="5897880" cy="12984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6007608" y="345643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 Was schwierig war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3776472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Erkannte UI-/Style-Probleme nicht von selbst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mussten explizit benannt werden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 musste jede Iteration manuell testen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864608"/>
            <a:ext cx="3611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685800" y="48646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79392" y="4864608"/>
            <a:ext cx="3611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4462272" y="48646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 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55864" y="4864608"/>
            <a:ext cx="3611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8238744" y="48646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~449 k 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Input-Tokens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" y="562356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713232" y="55869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 bei Logik-Bugs – aber bei allem Visuellen braucht das blinde LLM den Menschen als Augen.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 · MCP-SERVER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Autonomer Self-Healing-Zyklus: Analysieren → Beheben → Verifizieren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 + Playwright MCP-Server. Der Agent lädt das Frontend, inspiziert DOM &amp; Konsole selbst.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074920" cy="27432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Vorgehen &amp; Prompts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4712" y="2414016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Self-Healing-Auftrag: via Playwright Konsole/DOM prüfen, Dateien patchen, Seite neu laden &amp; verifizieren – Zyklus wiederholen.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24712" y="3374136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Restliche Punkte benannt (lange Texte, ungestylte Elemente, kleiner Screen, leere Validierung). → Agent testete selbst per Screenshot.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06440" y="1920240"/>
            <a:ext cx="5897880" cy="1298448"/>
          </a:xfrm>
          <a:prstGeom prst="rect">
            <a:avLst/>
          </a:prstGeom>
          <a:solidFill>
            <a:srgbClr val="ECFDF5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6007608" y="20116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Was gut funktioniert hat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233172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Verifizierte sich selbst – kaum Kontrolle nötig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Öffnete Browser &amp; machte Screenshots autonom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Wenigste Prompts (2), schnellste Zeit (3 min)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3364992"/>
            <a:ext cx="5897880" cy="12984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6007608" y="345643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 Was schwierig 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3776472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mussten dennoch präzise benannt werden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Höchster Token-Verbrauch (~1,5 M)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Einmaliges MCP-Setup erforderlich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864608"/>
            <a:ext cx="3611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685800" y="48646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79392" y="4864608"/>
            <a:ext cx="3611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4462272" y="48646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 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55864" y="4864608"/>
            <a:ext cx="3611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8238744" y="48646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2920" y="562356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713232" y="55869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verschiebt die Verifikation vom Menschen zur Maschine – der eigentliche Produktivitäts-Hebel.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 · CHAT + SCREENSHOTS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Multimodaler Chat – maximale Zugänglichkeit, maximaler Handarbeit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Studio. Code-Text plus manuell erstellte PNG-Screenshots werden in den Chat hochgeladen.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074920" cy="27432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Vorgehen &amp; Prompts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4712" y="2414016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Gleicher Engineer-Prompt + Screenshot der App. → Button verbessert, aber Header überlappt weiter.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182112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73152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24712" y="3127248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Layout-Screenshots nachgereicht. → grobe Layoutprobleme weitgehend behoben.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895344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73152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384048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3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Kleiner Screen + leere TODOs + ungestylte Elemente. → alle Fehler behoben.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1920240"/>
            <a:ext cx="5897880" cy="1298448"/>
          </a:xfrm>
          <a:prstGeom prst="rect">
            <a:avLst/>
          </a:prstGeom>
          <a:solidFill>
            <a:srgbClr val="ECFDF5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6007608" y="20116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Was gut funktioniert hat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33172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Setup nötig – jeder kann es nutzen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Antwortzeiten (6–7 s)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Nachvollziehbare Problembeschreibungen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06440" y="3364992"/>
            <a:ext cx="5897880" cy="12984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6007608" y="345643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 Was schwierig war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3776472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Code-Einfügen mühsam (Stelle oft unklar)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&amp; Uploads sehr zeitaufwendig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Erkannte Design-Probleme kaum selbst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864608"/>
            <a:ext cx="3611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685800" y="48646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79392" y="4864608"/>
            <a:ext cx="3611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4462272" y="48646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 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55864" y="4864608"/>
            <a:ext cx="3611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8238744" y="48646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~20,6 k 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" y="562356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713232" y="55869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Niedrigste Hürde, höchster Handaufwand: Was an Setup gespart wird, kostet später teure Menschenzeit.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· ALLE DREI WORKFLOWS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Vom kaputten Seed zur sauberen App – am Ende schaffen es alle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 · injizierte Defekte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486400" cy="1508760"/>
          </a:xfrm>
          <a:prstGeom prst="rect">
            <a:avLst/>
          </a:prstGeom>
          <a:solidFill>
            <a:srgbClr val="F4F7FA"/>
          </a:solidFill>
          <a:ln w="15875">
            <a:solidFill>
              <a:srgbClr val="FCA5A5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6" name="Image 0" descr="/sessions/ecstatic-serene-galileo/mnt/outputs/img/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95728"/>
            <a:ext cx="5212080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272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Ungestylter „Liste leeren“-Button bricht aus dem Layout, leere Liste, Header überlappt.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3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 · selbstgeheilt (WF 2 · MCP)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103120"/>
            <a:ext cx="5486400" cy="2926080"/>
          </a:xfrm>
          <a:prstGeom prst="rect">
            <a:avLst/>
          </a:prstGeom>
          <a:solidFill>
            <a:srgbClr val="F4F7FA"/>
          </a:solidFill>
          <a:ln w="19050">
            <a:solidFill>
              <a:srgbClr val="5EEAD4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10" name="Image 1" descr="/sessions/ecstatic-serene-galileo/mnt/outputs/img/af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46520" y="2240280"/>
            <a:ext cx="5120640" cy="2651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" y="3794760"/>
            <a:ext cx="5486400" cy="1234440"/>
          </a:xfrm>
          <a:prstGeom prst="rect">
            <a:avLst/>
          </a:prstGeom>
          <a:solidFill>
            <a:srgbClr val="0F2540"/>
          </a:solidFill>
          <a:ln/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2" name="Text 8"/>
          <p:cNvSpPr/>
          <p:nvPr/>
        </p:nvSpPr>
        <p:spPr>
          <a:xfrm>
            <a:off x="731520" y="395020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Fehler behoben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jedem der drei Workflows – die Korrektheit ist nicht der Differenzierer.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502920" y="576072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0"/>
          <p:cNvSpPr/>
          <p:nvPr/>
        </p:nvSpPr>
        <p:spPr>
          <a:xfrm>
            <a:off x="713232" y="572414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der reinen Fehlerquote sind alle gleich gut. Die entscheidende Frage lautet daher nicht „ob“, sondern „wie effizient“.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· METRIK 1 · MENSCHLICHE INTERAKTIONEN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erreicht das Ziel in den wenigsten Runden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600200"/>
          <a:ext cx="6583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Benötigte Prompts bis zur fehlerfreien App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406640" y="1600200"/>
            <a:ext cx="4297680" cy="32004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4"/>
          <p:cNvSpPr/>
          <p:nvPr/>
        </p:nvSpPr>
        <p:spPr>
          <a:xfrm>
            <a:off x="763524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35240" y="224028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 testet selbst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MCP-Agent verifiziert jede Korrektur autonom – der Mensch gibt nur die Richtung vor.
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 &amp; WF3 brauchen Hinweise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 und Style-Fehler erkannten sie nicht selbst – sie mussten in den Prompts explizit benannt werden.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576072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713232" y="572414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Interaktionen = weniger Kontextwechsel für den Entwickler. Genau diese Unterbrechungen sind im Arbeitsalltag am teuersten.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· METRIK 2 · BEARBEITUNGSZEIT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ist am schnellsten – der Chat-Weg am langsamsten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600200"/>
          <a:ext cx="6583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Gesamtbearbeitungszeit in Minuten (Fehlerbericht → fehlerfreier Build)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406640" y="1600200"/>
            <a:ext cx="4297680" cy="1508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Text 4"/>
          <p:cNvSpPr/>
          <p:nvPr/>
        </p:nvSpPr>
        <p:spPr>
          <a:xfrm>
            <a:off x="7635240" y="17647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635240" y="244144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 als der Chat-Workflow erreichte MCP das Ergebnis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3291840"/>
            <a:ext cx="4297680" cy="1508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7635240" y="34564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635240" y="41330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kostete WF3 – getrieben durch manuelles Screenshots-Erstellen &amp; Datei-Uploads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76072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0"/>
          <p:cNvSpPr/>
          <p:nvPr/>
        </p:nvSpPr>
        <p:spPr>
          <a:xfrm>
            <a:off x="713232" y="572414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Chat-Workflow spart Setup, kostet aber Menschenzeit bei jedem Schritt. MCP investiert einmal ins Setup und automatisiert danach den teuersten Teil.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· METRIK 3 · TOKEN-ÖKONOMIE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Trade-off: MCP ist am token-intensivsten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61264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6177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Verbrauchte Input-Tokens (Modell: Gemini 3.1 Flash Lite)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0" y="1508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Session-Daten</a:t>
            </a:r>
            <a:endParaRPr lang="en-US" sz="1200" dirty="0"/>
          </a:p>
        </p:txBody>
      </p:sp>
      <p:pic>
        <p:nvPicPr>
          <p:cNvPr id="7" name="Image 0" descr="/sessions/ecstatic-serene-galileo/mnt/outputs/img/tok_wf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0" y="1828800"/>
            <a:ext cx="2331720" cy="1472184"/>
          </a:xfrm>
          <a:prstGeom prst="rect">
            <a:avLst/>
          </a:prstGeom>
        </p:spPr>
      </p:pic>
      <p:pic>
        <p:nvPicPr>
          <p:cNvPr id="8" name="Image 1" descr="/sessions/ecstatic-serene-galileo/mnt/outputs/img/tok_wf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26880" y="1874520"/>
            <a:ext cx="2331720" cy="1490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58000" y="33101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 · MCP (59 Tool-Calls)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9326880" y="33101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 · Nur Code (27 Tool-Calls)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6858000" y="3703320"/>
            <a:ext cx="484632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7"/>
          <p:cNvSpPr/>
          <p:nvPr/>
        </p:nvSpPr>
        <p:spPr>
          <a:xfrm>
            <a:off x="7040880" y="37764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Achtung Vergleichbarkeit: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Agenten (WF1/2) lesen Dateien &amp; Logs automatisch – der Chat (WF3) nur manuell Eingefügtes. Tokens ≠ Gesamtkosten.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2920" y="576072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9"/>
          <p:cNvSpPr/>
          <p:nvPr/>
        </p:nvSpPr>
        <p:spPr>
          <a:xfrm>
            <a:off x="713232" y="572414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tauscht günstige Tokens gegen teure Menschenzeit. Bei realen Entwickler-Stundensätzen ist das fast immer der bessere Deal.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Gesamtbild: MCP führt in jeder Effizienz-Dimension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063240" cy="457200"/>
          </a:xfrm>
          <a:prstGeom prst="rect">
            <a:avLst/>
          </a:prstGeom>
          <a:solidFill>
            <a:srgbClr val="0F254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554480"/>
            <a:ext cx="2834640" cy="457200"/>
          </a:xfrm>
          <a:prstGeom prst="rect">
            <a:avLst/>
          </a:prstGeom>
          <a:solidFill>
            <a:srgbClr val="0F254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370332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 · Nur Code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2834640" cy="457200"/>
          </a:xfrm>
          <a:prstGeom prst="rect">
            <a:avLst/>
          </a:prstGeom>
          <a:solidFill>
            <a:srgbClr val="0F254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653796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 · MCP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235440" y="1554480"/>
            <a:ext cx="2834640" cy="457200"/>
          </a:xfrm>
          <a:prstGeom prst="rect">
            <a:avLst/>
          </a:prstGeom>
          <a:solidFill>
            <a:srgbClr val="0F254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937260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 · Chat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011680"/>
            <a:ext cx="3063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640080" y="2011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behoben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201168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370332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2834640" cy="457200"/>
          </a:xfrm>
          <a:prstGeom prst="rect">
            <a:avLst/>
          </a:prstGeom>
          <a:solidFill>
            <a:srgbClr val="E6FB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65379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35440" y="201168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937260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2468880"/>
            <a:ext cx="30632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640080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Menschl. Interaktionen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2468880"/>
            <a:ext cx="28346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370332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Prompts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2468880"/>
            <a:ext cx="2834640" cy="457200"/>
          </a:xfrm>
          <a:prstGeom prst="rect">
            <a:avLst/>
          </a:prstGeom>
          <a:solidFill>
            <a:srgbClr val="E6FB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653796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Prompts</a:t>
            </a: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235440" y="2468880"/>
            <a:ext cx="28346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937260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Prompts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2926080"/>
            <a:ext cx="3063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64008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Bearbeitungszeit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66160" y="292608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370332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0" y="2926080"/>
            <a:ext cx="2834640" cy="457200"/>
          </a:xfrm>
          <a:prstGeom prst="rect">
            <a:avLst/>
          </a:prstGeom>
          <a:solidFill>
            <a:srgbClr val="E6FB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/>
          <p:nvPr/>
        </p:nvSpPr>
        <p:spPr>
          <a:xfrm>
            <a:off x="653796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235440" y="292608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Text 33"/>
          <p:cNvSpPr/>
          <p:nvPr/>
        </p:nvSpPr>
        <p:spPr>
          <a:xfrm>
            <a:off x="937260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3383280"/>
            <a:ext cx="30632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7" name="Text 35"/>
          <p:cNvSpPr/>
          <p:nvPr/>
        </p:nvSpPr>
        <p:spPr>
          <a:xfrm>
            <a:off x="64008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 Verifikation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66160" y="3383280"/>
            <a:ext cx="28346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9" name="Text 37"/>
          <p:cNvSpPr/>
          <p:nvPr/>
        </p:nvSpPr>
        <p:spPr>
          <a:xfrm>
            <a:off x="370332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0" y="3383280"/>
            <a:ext cx="2834640" cy="457200"/>
          </a:xfrm>
          <a:prstGeom prst="rect">
            <a:avLst/>
          </a:prstGeom>
          <a:solidFill>
            <a:srgbClr val="E6FB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1" name="Text 39"/>
          <p:cNvSpPr/>
          <p:nvPr/>
        </p:nvSpPr>
        <p:spPr>
          <a:xfrm>
            <a:off x="653796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235440" y="3383280"/>
            <a:ext cx="28346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3" name="Text 41"/>
          <p:cNvSpPr/>
          <p:nvPr/>
        </p:nvSpPr>
        <p:spPr>
          <a:xfrm>
            <a:off x="937260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02920" y="3840480"/>
            <a:ext cx="3063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5" name="Text 43"/>
          <p:cNvSpPr/>
          <p:nvPr/>
        </p:nvSpPr>
        <p:spPr>
          <a:xfrm>
            <a:off x="640080" y="3840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Input-Tokens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566160" y="384048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7" name="Text 45"/>
          <p:cNvSpPr/>
          <p:nvPr/>
        </p:nvSpPr>
        <p:spPr>
          <a:xfrm>
            <a:off x="370332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~449 k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400800" y="3840480"/>
            <a:ext cx="2834640" cy="457200"/>
          </a:xfrm>
          <a:prstGeom prst="rect">
            <a:avLst/>
          </a:prstGeom>
          <a:solidFill>
            <a:srgbClr val="E6FB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9" name="Text 47"/>
          <p:cNvSpPr/>
          <p:nvPr/>
        </p:nvSpPr>
        <p:spPr>
          <a:xfrm>
            <a:off x="653796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~1,51 M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9235440" y="384048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1" name="Text 49"/>
          <p:cNvSpPr/>
          <p:nvPr/>
        </p:nvSpPr>
        <p:spPr>
          <a:xfrm>
            <a:off x="937260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k</a:t>
            </a: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02920" y="4297680"/>
            <a:ext cx="30632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3" name="Text 51"/>
          <p:cNvSpPr/>
          <p:nvPr/>
        </p:nvSpPr>
        <p:spPr>
          <a:xfrm>
            <a:off x="640080" y="4297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Setup-Aufwand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566160" y="4297680"/>
            <a:ext cx="28346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5" name="Text 53"/>
          <p:cNvSpPr/>
          <p:nvPr/>
        </p:nvSpPr>
        <p:spPr>
          <a:xfrm>
            <a:off x="370332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gering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400800" y="4297680"/>
            <a:ext cx="2834640" cy="457200"/>
          </a:xfrm>
          <a:prstGeom prst="rect">
            <a:avLst/>
          </a:prstGeom>
          <a:solidFill>
            <a:srgbClr val="E6FB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7" name="Text 55"/>
          <p:cNvSpPr/>
          <p:nvPr/>
        </p:nvSpPr>
        <p:spPr>
          <a:xfrm>
            <a:off x="653796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9235440" y="4297680"/>
            <a:ext cx="28346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9" name="Text 57"/>
          <p:cNvSpPr/>
          <p:nvPr/>
        </p:nvSpPr>
        <p:spPr>
          <a:xfrm>
            <a:off x="937260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keiner</a:t>
            </a: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6400800" y="1554480"/>
            <a:ext cx="2834640" cy="3200400"/>
          </a:xfrm>
          <a:prstGeom prst="rect">
            <a:avLst/>
          </a:prstGeom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1" name="Text 59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bester Wert der Zeile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2920" y="576072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3" name="Text 61"/>
          <p:cNvSpPr/>
          <p:nvPr/>
        </p:nvSpPr>
        <p:spPr>
          <a:xfrm>
            <a:off x="713232" y="572414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verliert nur eine Disziplin – den Token-Verbrauch. In allen Dimensionen, die Entwicklerzeit kosten, liegt es klar vorn.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HANDLUNGSEMPFEHLUNG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 welcher Workflow – die Entscheidungslogik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611880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wählen, wenn…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3957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" y="23774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Entwicklung &amp; Self-Healing gefragt sind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30540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6424" y="30358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Laufzeit-Verhalten (UI, Logs) zählt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8952" y="37124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06424" y="36941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Entwicklerzeit teurer ist als Tokens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79392" y="160020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4279392" y="1600200"/>
            <a:ext cx="3611880" cy="59436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4507992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Nur-Code reicht, wenn…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35424" y="23957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82896" y="23774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rein im Code sichtbar sind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35424" y="30540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82896" y="30358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Tooling-Setup vermieden werden soll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35424" y="37124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82896" y="36941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 Logik-Fixes genügen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55864" y="160020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3" name="Shape 21"/>
          <p:cNvSpPr/>
          <p:nvPr/>
        </p:nvSpPr>
        <p:spPr>
          <a:xfrm>
            <a:off x="8055864" y="1600200"/>
            <a:ext cx="3611880" cy="59436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8284464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nutzen, wenn…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11896" y="23957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59368" y="23774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Setup möglich ist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11896" y="30540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59368" y="30358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ein Browser-LLM verfügbar ist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11896" y="37124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59368" y="36941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Einmal-Korrekturen statt Iteration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576072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713232" y="572414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ist kein Allheilmittel, aber für moderne agentische Dev-Workflows der neue Standard – überall dort, wo die KI sehen und selbst testen muss.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5943600" cy="5943600"/>
          </a:xfrm>
          <a:prstGeom prst="ellipse">
            <a:avLst/>
          </a:prstGeom>
          <a:solidFill>
            <a:srgbClr val="16314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macht aus dem LLM einen eigenständigen Ingenieur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6791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 Korrektheit   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drei Workflows behoben 10/10 Fehler – Qualität ist kein Unterscheidungsmerkmal.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3814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64008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39242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Effizienz entscheidet   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gewinnt bei Interaktionen (2) und Zeit (3 min) durch autonome Verifikation.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5137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6400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4105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Bewusster Trade-off   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Höherer Token-Verbrauch wird durch eingesparte, teurere Menschenzeit überkompensiert.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5074920"/>
            <a:ext cx="1088136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658368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Pointner · Sebastian Kaltenegger   —   Vielen Dank. Fragen?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1779</Words>
  <Application>Microsoft Office PowerPoint</Application>
  <PresentationFormat>Breitbild</PresentationFormat>
  <Paragraphs>299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Context Protocol (MCP) – Effiziente KI-Integration</dc:title>
  <dc:subject>PptxGenJS Presentation</dc:subject>
  <dc:creator>Andreas Pointner, Sebastian Kaltenegger</dc:creator>
  <cp:lastModifiedBy>Kaltenegger Sebastian - s2410307017</cp:lastModifiedBy>
  <cp:revision>2</cp:revision>
  <dcterms:created xsi:type="dcterms:W3CDTF">2026-06-18T17:44:31Z</dcterms:created>
  <dcterms:modified xsi:type="dcterms:W3CDTF">2026-06-18T17:53:47Z</dcterms:modified>
</cp:coreProperties>
</file>