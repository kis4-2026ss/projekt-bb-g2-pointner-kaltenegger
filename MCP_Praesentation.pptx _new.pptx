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charts/chart3.xml" ContentType="application/vnd.openxmlformats-officedocument.drawingml.chart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EA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Prompts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969-4AD0-9EC5-68325111F333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969-4AD0-9EC5-68325111F333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969-4AD0-9EC5-68325111F333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969-4AD0-9EC5-68325111F33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9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Minuten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E88-4F04-B4BA-6D3ED434050C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E88-4F04-B4BA-6D3ED434050C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E88-4F04-B4BA-6D3ED434050C}"/>
              </c:ext>
            </c:extLst>
          </c:dPt>
          <c:dLbls>
            <c:dLbl>
              <c:idx val="1"/>
              <c:tx>
                <c:rich>
                  <a:bodyPr/>
                  <a:lstStyle/>
                  <a:p>
                    <a:r>
                      <a:rPr lang="en-US"/>
                      <a:t>6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CE88-4F04-B4BA-6D3ED434050C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6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E88-4F04-B4BA-6D3ED434050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7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Input-Tokens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7BE-4F9E-B447-034957A404DD}"/>
              </c:ext>
            </c:extLst>
          </c:dPt>
          <c:dPt>
            <c:idx val="1"/>
            <c:invertIfNegative val="0"/>
            <c:bubble3D val="0"/>
            <c:spPr>
              <a:solidFill>
                <a:srgbClr val="0D948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7BE-4F9E-B447-034957A404DD}"/>
              </c:ext>
            </c:extLst>
          </c:dPt>
          <c:dPt>
            <c:idx val="2"/>
            <c:invertIfNegative val="0"/>
            <c:bubble3D val="0"/>
            <c:spPr>
              <a:solidFill>
                <a:srgbClr val="E07A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7BE-4F9E-B447-034957A404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334155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WF1 · Nur Code</c:v>
                </c:pt>
                <c:pt idx="1">
                  <c:v>WF2 · MCP</c:v>
                </c:pt>
                <c:pt idx="2">
                  <c:v>WF3 · Chat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455465</c:v>
                </c:pt>
                <c:pt idx="1">
                  <c:v>1521074</c:v>
                </c:pt>
                <c:pt idx="2">
                  <c:v>20661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7BE-4F9E-B447-034957A40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4A3B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039661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5669280" cy="5669280"/>
          </a:xfrm>
          <a:prstGeom prst="ellipse">
            <a:avLst/>
          </a:prstGeom>
          <a:solidFill>
            <a:srgbClr val="16314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" name="Shape 1"/>
          <p:cNvSpPr/>
          <p:nvPr/>
        </p:nvSpPr>
        <p:spPr>
          <a:xfrm>
            <a:off x="10104120" y="1554480"/>
            <a:ext cx="292608" cy="29260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1064240" y="2423160"/>
            <a:ext cx="201168" cy="201168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10561320" y="868680"/>
            <a:ext cx="164592" cy="164592"/>
          </a:xfrm>
          <a:prstGeom prst="ellipse">
            <a:avLst/>
          </a:prstGeom>
          <a:solidFill>
            <a:srgbClr val="5EEAD4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Shape 4"/>
          <p:cNvSpPr/>
          <p:nvPr/>
        </p:nvSpPr>
        <p:spPr>
          <a:xfrm>
            <a:off x="10241280" y="1691640"/>
            <a:ext cx="914400" cy="82296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10241280" y="1691640"/>
            <a:ext cx="393192" cy="0"/>
          </a:xfrm>
          <a:prstGeom prst="line">
            <a:avLst/>
          </a:prstGeom>
          <a:noFill/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82296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 OÖ · KIS4 · GRUPPE 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86384" y="214884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5200" dirty="0">
                <a:solidFill>
                  <a:srgbClr val="5EEAD4"/>
                </a:solidFill>
              </a:rPr>
              <a:t>Frontend “Self-Healer”</a:t>
            </a:r>
          </a:p>
        </p:txBody>
      </p:sp>
      <p:sp>
        <p:nvSpPr>
          <p:cNvPr id="10" name="Text 8"/>
          <p:cNvSpPr/>
          <p:nvPr/>
        </p:nvSpPr>
        <p:spPr>
          <a:xfrm>
            <a:off x="822960" y="31272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Effiziente KI-Integration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841248" y="4206240"/>
            <a:ext cx="274320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841248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Andreas Pointner  ·  Sebastian Kaltenegger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wollen wir herausfinden?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1277295" y="5172668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896C6053-6AB1-54D2-E6DE-6846634E378B}"/>
              </a:ext>
            </a:extLst>
          </p:cNvPr>
          <p:cNvSpPr/>
          <p:nvPr/>
        </p:nvSpPr>
        <p:spPr>
          <a:xfrm>
            <a:off x="6248095" y="2287157"/>
            <a:ext cx="5440680" cy="3154680"/>
          </a:xfrm>
          <a:prstGeom prst="rect">
            <a:avLst/>
          </a:prstGeom>
          <a:solidFill>
            <a:srgbClr val="F4F7FA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4B74BA6D-1197-9C5C-3BF5-39175116276B}"/>
              </a:ext>
            </a:extLst>
          </p:cNvPr>
          <p:cNvSpPr/>
          <p:nvPr/>
        </p:nvSpPr>
        <p:spPr>
          <a:xfrm>
            <a:off x="6476695" y="2470037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Unser Ziel</a:t>
            </a:r>
            <a:endParaRPr lang="en-US" sz="1500" dirty="0"/>
          </a:p>
        </p:txBody>
      </p:sp>
      <p:sp>
        <p:nvSpPr>
          <p:cNvPr id="14" name="Text 9">
            <a:extLst>
              <a:ext uri="{FF2B5EF4-FFF2-40B4-BE49-F238E27FC236}">
                <a16:creationId xmlns:a16="http://schemas.microsoft.com/office/drawing/2014/main" id="{2849E954-8A70-01E5-D179-F7DBED91195D}"/>
              </a:ext>
            </a:extLst>
          </p:cNvPr>
          <p:cNvSpPr/>
          <p:nvPr/>
        </p:nvSpPr>
        <p:spPr>
          <a:xfrm>
            <a:off x="6476695" y="2808365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Drei Workflows rein datengestützt vergleichen – anhand eines identischen Sets von Frontend-Fehlern. Gemessen wird an vier Kernmetriken:</a:t>
            </a:r>
            <a:endParaRPr lang="en-US" sz="1300" dirty="0"/>
          </a:p>
        </p:txBody>
      </p:sp>
      <p:sp>
        <p:nvSpPr>
          <p:cNvPr id="15" name="Shape 10">
            <a:extLst>
              <a:ext uri="{FF2B5EF4-FFF2-40B4-BE49-F238E27FC236}">
                <a16:creationId xmlns:a16="http://schemas.microsoft.com/office/drawing/2014/main" id="{22438A74-19FB-99F9-B323-AA14A75980C6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D6B00169-4677-25C7-4773-602E1B69484B}"/>
              </a:ext>
            </a:extLst>
          </p:cNvPr>
          <p:cNvSpPr/>
          <p:nvPr/>
        </p:nvSpPr>
        <p:spPr>
          <a:xfrm>
            <a:off x="6476695" y="3695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274D2DE2-2F55-DCF8-B86C-61BEB1FE5EC2}"/>
              </a:ext>
            </a:extLst>
          </p:cNvPr>
          <p:cNvSpPr/>
          <p:nvPr/>
        </p:nvSpPr>
        <p:spPr>
          <a:xfrm>
            <a:off x="6842455" y="3622181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Token-Verbrauch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Kostenvergleich (Input + Output)</a:t>
            </a:r>
            <a:endParaRPr lang="en-US" sz="1250" dirty="0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8514495B-A600-72F0-F30D-5836964AA66F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0DD13594-7517-E373-6B4F-8502296E11D5}"/>
              </a:ext>
            </a:extLst>
          </p:cNvPr>
          <p:cNvSpPr/>
          <p:nvPr/>
        </p:nvSpPr>
        <p:spPr>
          <a:xfrm>
            <a:off x="6476695" y="4115957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CC0429A1-3519-14F7-9B04-3723C2EDE014}"/>
              </a:ext>
            </a:extLst>
          </p:cNvPr>
          <p:cNvSpPr/>
          <p:nvPr/>
        </p:nvSpPr>
        <p:spPr>
          <a:xfrm>
            <a:off x="6842455" y="4042805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Fehlerbehebungsquote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der Bugs wirklich behoben?</a:t>
            </a:r>
            <a:endParaRPr lang="en-US" sz="1250" dirty="0"/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C411E660-C96F-E903-76C2-F2CE201C0C0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1F6EF589-7E53-C00E-8EB8-30EA408D828C}"/>
              </a:ext>
            </a:extLst>
          </p:cNvPr>
          <p:cNvSpPr/>
          <p:nvPr/>
        </p:nvSpPr>
        <p:spPr>
          <a:xfrm>
            <a:off x="6476695" y="453658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17E419D9-01CD-74F6-D377-8EF697A912A8}"/>
              </a:ext>
            </a:extLst>
          </p:cNvPr>
          <p:cNvSpPr/>
          <p:nvPr/>
        </p:nvSpPr>
        <p:spPr>
          <a:xfrm>
            <a:off x="6842455" y="4463429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Menschliche Interaktionen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oft muss der Mensch eingreifen?</a:t>
            </a:r>
            <a:endParaRPr lang="en-US" sz="125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E36CC503-11A7-5079-5439-6D1F38570E60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023E9DD1-3948-D3FA-C3DA-FA143C025A9C}"/>
              </a:ext>
            </a:extLst>
          </p:cNvPr>
          <p:cNvSpPr/>
          <p:nvPr/>
        </p:nvSpPr>
        <p:spPr>
          <a:xfrm>
            <a:off x="6476695" y="495720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27785C79-0EB9-E30C-7BF6-2C77C3DE4021}"/>
              </a:ext>
            </a:extLst>
          </p:cNvPr>
          <p:cNvSpPr/>
          <p:nvPr/>
        </p:nvSpPr>
        <p:spPr>
          <a:xfrm>
            <a:off x="6842455" y="4884053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25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Bearbeitungszeit   </a:t>
            </a: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Vom Fehlerbericht bis zum sauberen Build</a:t>
            </a:r>
            <a:endParaRPr lang="en-US" sz="1250" dirty="0"/>
          </a:p>
        </p:txBody>
      </p:sp>
      <p:sp>
        <p:nvSpPr>
          <p:cNvPr id="27" name="Shape 4">
            <a:extLst>
              <a:ext uri="{FF2B5EF4-FFF2-40B4-BE49-F238E27FC236}">
                <a16:creationId xmlns:a16="http://schemas.microsoft.com/office/drawing/2014/main" id="{B85F23BE-532B-ABD2-369C-AEB942B14EA2}"/>
              </a:ext>
            </a:extLst>
          </p:cNvPr>
          <p:cNvSpPr/>
          <p:nvPr/>
        </p:nvSpPr>
        <p:spPr>
          <a:xfrm>
            <a:off x="655320" y="2307295"/>
            <a:ext cx="5440680" cy="3134541"/>
          </a:xfrm>
          <a:prstGeom prst="rect">
            <a:avLst/>
          </a:prstGeom>
          <a:solidFill>
            <a:srgbClr val="0F2540"/>
          </a:solidFill>
          <a:ln/>
          <a:effectLst>
            <a:outerShdw blurRad="114300" dist="38100" dir="8100000" algn="bl" rotWithShape="0">
              <a:srgbClr val="0F2540">
                <a:alpha val="16000"/>
              </a:srgbClr>
            </a:outerShdw>
          </a:effectLst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de-AT"/>
          </a:p>
        </p:txBody>
      </p:sp>
      <p:sp>
        <p:nvSpPr>
          <p:cNvPr id="28" name="Text 5">
            <a:extLst>
              <a:ext uri="{FF2B5EF4-FFF2-40B4-BE49-F238E27FC236}">
                <a16:creationId xmlns:a16="http://schemas.microsoft.com/office/drawing/2014/main" id="{81FCFAA9-9C95-DE3B-558F-0740DFF51E5E}"/>
              </a:ext>
            </a:extLst>
          </p:cNvPr>
          <p:cNvSpPr/>
          <p:nvPr/>
        </p:nvSpPr>
        <p:spPr>
          <a:xfrm>
            <a:off x="929640" y="341082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050" b="1" kern="0" spc="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UNSERE LEITFRAGE</a:t>
            </a:r>
            <a:endParaRPr lang="en-US" sz="1050" dirty="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C42C4F4D-1816-B753-B161-EA52D7E94A46}"/>
              </a:ext>
            </a:extLst>
          </p:cNvPr>
          <p:cNvSpPr/>
          <p:nvPr/>
        </p:nvSpPr>
        <p:spPr>
          <a:xfrm>
            <a:off x="929640" y="3686189"/>
            <a:ext cx="4983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8000"/>
              </a:lnSpc>
              <a:buNone/>
            </a:pPr>
            <a:r>
              <a:rPr lang="en-US" sz="155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Welcher KI-Workflow bietet die beste Balance aus Korrektheit, UI-Qualität und Kosteneffizienz?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LLM ohne Kontext ist blind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210312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Laufzeit-Fehler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240487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Konsolen-Errors bleiben unsichtbar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822960" y="2990088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822960" y="2990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463040" y="294436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gerendertes UI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&amp; Styles werden nicht gesehen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22960" y="3831336"/>
            <a:ext cx="457200" cy="457200"/>
          </a:xfrm>
          <a:prstGeom prst="ellipse">
            <a:avLst/>
          </a:prstGeom>
          <a:solidFill>
            <a:srgbClr val="FDECEC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822960" y="3831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46304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Selbst-Prüfung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63040" y="408736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Mensch muss jede Korrektur testen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949440" y="2514600"/>
            <a:ext cx="17373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6949440" y="2514600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9052560" y="2286000"/>
            <a:ext cx="0" cy="1371600"/>
          </a:xfrm>
          <a:prstGeom prst="line">
            <a:avLst/>
          </a:prstGeom>
          <a:noFill/>
          <a:ln w="25400">
            <a:solidFill>
              <a:srgbClr val="E2A6A6"/>
            </a:solidFill>
            <a:prstDash val="dash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9464040" y="2286000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/ UI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9464040" y="2852928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9464040" y="3419856"/>
            <a:ext cx="2194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DOM-Styles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36676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5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blockiert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KONZEPT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ist MCP?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91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standardisierte Schnittstelle zwischen KI-Agent und Werkzeugen – der „USB-C-Stecker“ für KI.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306324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KI-Agent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069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2971800"/>
            <a:ext cx="2834640" cy="10972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4663440" y="297180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63440" y="4160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Browser-Controller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3520440"/>
            <a:ext cx="164592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Shape 10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7498080" y="3520440"/>
            <a:ext cx="1417320" cy="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7498080" y="3520440"/>
            <a:ext cx="1417320" cy="77724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Shape 13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8915400" y="24688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&amp; DOM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8915400" y="32461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Konsolen-Logs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solidFill>
            <a:srgbClr val="F6F9FB"/>
          </a:solidFill>
          <a:ln w="15875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0" name="Text 18"/>
          <p:cNvSpPr/>
          <p:nvPr/>
        </p:nvSpPr>
        <p:spPr>
          <a:xfrm>
            <a:off x="8915400" y="40233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Dateisystem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Shape 12">
            <a:extLst>
              <a:ext uri="{FF2B5EF4-FFF2-40B4-BE49-F238E27FC236}">
                <a16:creationId xmlns:a16="http://schemas.microsoft.com/office/drawing/2014/main" id="{7E092102-6FAB-0284-4FC6-79FCB5FAFADC}"/>
              </a:ext>
            </a:extLst>
          </p:cNvPr>
          <p:cNvSpPr/>
          <p:nvPr/>
        </p:nvSpPr>
        <p:spPr>
          <a:xfrm flipV="1">
            <a:off x="7498080" y="2807207"/>
            <a:ext cx="1417320" cy="713231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METHODIK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Versuchsaufbau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313558" y="1783080"/>
            <a:ext cx="9587680" cy="777240"/>
          </a:xfrm>
          <a:prstGeom prst="roundRect">
            <a:avLst>
              <a:gd name="adj" fmla="val 7059"/>
            </a:avLst>
          </a:prstGeom>
          <a:solidFill>
            <a:srgbClr val="0F2540"/>
          </a:solidFill>
          <a:ln/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160520" y="178308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Fehlerhafte Basis-App</a:t>
            </a:r>
            <a:endParaRPr lang="en-US" sz="15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Bugs · identische Codebasis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194560" y="2560320"/>
            <a:ext cx="0" cy="50292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7772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777240" y="3108960"/>
            <a:ext cx="73152" cy="1783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0515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515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0515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Text-Dateien, kein Zugriff auf App oder Logs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80760" y="2560320"/>
            <a:ext cx="0" cy="502920"/>
          </a:xfrm>
          <a:prstGeom prst="line">
            <a:avLst/>
          </a:prstGeom>
          <a:noFill/>
          <a:ln w="254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46634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663440" y="3108960"/>
            <a:ext cx="73152" cy="1783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9377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9377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49377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liest Logs &amp; DOM, patcht und testet selbst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966960" y="2560320"/>
            <a:ext cx="0" cy="502920"/>
          </a:xfrm>
          <a:prstGeom prst="line">
            <a:avLst/>
          </a:prstGeom>
          <a:noFill/>
          <a:ln w="25400">
            <a:solidFill>
              <a:srgbClr val="E07A5F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Shape 17"/>
          <p:cNvSpPr/>
          <p:nvPr/>
        </p:nvSpPr>
        <p:spPr>
          <a:xfrm>
            <a:off x="8549640" y="3108960"/>
            <a:ext cx="2834640" cy="178308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0" name="Shape 18"/>
          <p:cNvSpPr/>
          <p:nvPr/>
        </p:nvSpPr>
        <p:spPr>
          <a:xfrm>
            <a:off x="8549640" y="3108960"/>
            <a:ext cx="73152" cy="1783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8823960" y="32918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823960" y="35661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823960" y="411480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Code-Text plus manuelle PNG-Screenshots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FEHLER-SET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injizierte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645920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Funktional / Logik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822960" y="31181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097280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Falsches Löschen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5753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1097280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Massen-Update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822960" y="40325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1097280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Fehlende Validierung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22960" y="4489704"/>
            <a:ext cx="118872" cy="118872"/>
          </a:xfrm>
          <a:prstGeom prst="ellipse">
            <a:avLst/>
          </a:prstGeom>
          <a:solidFill>
            <a:srgbClr val="0F2540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97280" y="43982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Kaputte Filter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398264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5266944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/ Responsive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398264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Shape 16"/>
          <p:cNvSpPr/>
          <p:nvPr/>
        </p:nvSpPr>
        <p:spPr>
          <a:xfrm>
            <a:off x="4443984" y="31181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718304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Text-Overflow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443984" y="35753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4718304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Überlappende Header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443984" y="4032504"/>
            <a:ext cx="118872" cy="118872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718304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Zerstörte Buttons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019288" y="21031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8887968" y="2212848"/>
            <a:ext cx="2587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 UI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019288" y="2880360"/>
            <a:ext cx="3364992" cy="0"/>
          </a:xfrm>
          <a:prstGeom prst="line">
            <a:avLst/>
          </a:prstGeom>
          <a:noFill/>
          <a:ln w="19050">
            <a:solidFill>
              <a:srgbClr val="E8EDF2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Shape 25"/>
          <p:cNvSpPr/>
          <p:nvPr/>
        </p:nvSpPr>
        <p:spPr>
          <a:xfrm>
            <a:off x="8065008" y="31181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8339328" y="30266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Fälligkeitsdatum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65008" y="35753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0" name="Text 28"/>
          <p:cNvSpPr/>
          <p:nvPr/>
        </p:nvSpPr>
        <p:spPr>
          <a:xfrm>
            <a:off x="8339328" y="34838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Dropdown-Priorität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65008" y="4032504"/>
            <a:ext cx="118872" cy="118872"/>
          </a:xfrm>
          <a:prstGeom prst="ellipse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8339328" y="3941064"/>
            <a:ext cx="2999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„Liste leeren“-Button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6" name="Text 34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Code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mit Zugriff auf den src-Ordner – ohne laufende App oder Konsole.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 build selbst ausgeführt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Sehr schnelle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Einfach im Browser testbar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UI-Probleme nicht selbst erkannt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mussten explizit benannt werden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 Iteration manuell getestet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EFD66A2C-4BAB-9EC2-03C2-97C548A75EA6}"/>
              </a:ext>
            </a:extLst>
          </p:cNvPr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</a:rPr>
              <a:t>27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MCP-Server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CLI + Playwright MCP – der Agent lädt die App, prüft DOM &amp; Konsole selbst.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Verifiziert sich selbst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Öffnet Browser &amp; testet autonom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Wenigste Prompts, schnellste Zeit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dennoch präzise benennen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Höchster Token-Verbrauch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Einmaliges Setup nötig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~6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Tool-Calls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 + Screenshots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  </a:t>
            </a: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Studio – Code-Text und manuelle PNG-Screenshots in den Chat geladen.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77724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gut lief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nötig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Kurze Antwortzeiten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Nachvollziehbare Erklärungen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schwierig war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743200"/>
            <a:ext cx="49377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Code-Einfügen mühsam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&amp; Uploads zeitaufwendig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Design-Probleme kaum selbst erkannt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53712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~15 min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330184" y="4526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~20,6 k</a:t>
            </a: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 Ende behebt jeder Workflow alle Fehler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VORHER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5120640" cy="1280160"/>
          </a:xfrm>
          <a:prstGeom prst="rect">
            <a:avLst/>
          </a:prstGeom>
          <a:solidFill>
            <a:srgbClr val="F6F9FB"/>
          </a:solidFill>
          <a:ln w="12700">
            <a:solidFill>
              <a:srgbClr val="F0C8C8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6" name="Image 0" descr="/sessions/ecstatic-serene-galileo/mnt/outputs/img/bef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95728"/>
            <a:ext cx="4846320" cy="5760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0175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Ungestylter Button, leere Liste, Header überlappt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35508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NACHHER  ·  WF 2 · MCP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355080" y="2103120"/>
            <a:ext cx="5120640" cy="2788920"/>
          </a:xfrm>
          <a:prstGeom prst="rect">
            <a:avLst/>
          </a:prstGeom>
          <a:solidFill>
            <a:srgbClr val="F6F9FB"/>
          </a:solidFill>
          <a:ln w="15875">
            <a:solidFill>
              <a:srgbClr val="5EEAD4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pic>
        <p:nvPicPr>
          <p:cNvPr id="10" name="Image 1" descr="/sessions/ecstatic-serene-galileo/mnt/outputs/img/after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537960" y="2240280"/>
            <a:ext cx="4754880" cy="2514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77240" y="365760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10</a:t>
            </a:r>
            <a:endParaRPr lang="en-US" sz="4400" dirty="0"/>
          </a:p>
          <a:p>
            <a:pPr marL="0" indent="0"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behoben – in jedem Workflow</a:t>
            </a:r>
            <a:endParaRPr lang="en-US" sz="4400" dirty="0"/>
          </a:p>
        </p:txBody>
      </p:sp>
      <p:sp>
        <p:nvSpPr>
          <p:cNvPr id="14" name="Shape 10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1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Wenigste menschliche Interaktionen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194560" y="2011680"/>
          <a:ext cx="77724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2194560" y="50749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Benötigte Prompts bis zur fehlerfreien App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9" name="Text 6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Kürzeste Bearbeitungszeit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663331985"/>
              </p:ext>
            </p:extLst>
          </p:nvPr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Gesamtbearbeitungszeit in Minuten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503920" y="2468880"/>
            <a:ext cx="2926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50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2-3×</a:t>
            </a:r>
            <a:endParaRPr lang="en-US" sz="5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schneller als der Chat-Workflow </a:t>
            </a:r>
            <a:r>
              <a:rPr lang="en-US" sz="140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erreichte</a:t>
            </a: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die CLI-KI das Ziel</a:t>
            </a:r>
            <a:endParaRPr lang="en-US" sz="5000" dirty="0"/>
          </a:p>
        </p:txBody>
      </p:sp>
      <p:sp>
        <p:nvSpPr>
          <p:cNvPr id="9" name="Shape 6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0" name="Text 7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ERGEBNIS · METRIK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Token-Verbrauch: der Trade-off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1326422232"/>
              </p:ext>
            </p:extLst>
          </p:nvPr>
        </p:nvGraphicFramePr>
        <p:xfrm>
          <a:off x="777240" y="1920240"/>
          <a:ext cx="731520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777240" y="5029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Verbrauchte Input-Tokens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8503920" y="1920240"/>
            <a:ext cx="2926080" cy="3108960"/>
          </a:xfrm>
          <a:prstGeom prst="rect">
            <a:avLst/>
          </a:prstGeom>
          <a:solidFill>
            <a:srgbClr val="FEF7E6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4"/>
          <p:cNvSpPr/>
          <p:nvPr/>
        </p:nvSpPr>
        <p:spPr>
          <a:xfrm>
            <a:off x="8778240" y="2240280"/>
            <a:ext cx="2468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kostet am meisten Tokens.
</a:t>
            </a:r>
            <a:endParaRPr lang="en-US" sz="13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Aber: Tokens sind billig, Menschenzeit teuer. Der Chat spart Tokens – und verliert bei der Zeit.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1" name="Text 8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EMPFEHLUNG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58952" y="8412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F25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Wann was nutzen?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3456432" cy="64008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1051560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MCP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69848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35608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iterative Entwicklung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069848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35608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Laufzeit-Verhalten zählt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69848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435608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 teurer als Tokens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398264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4398264" y="2103120"/>
            <a:ext cx="3456432" cy="640080"/>
          </a:xfrm>
          <a:prstGeom prst="rect">
            <a:avLst/>
          </a:prstGeom>
          <a:solidFill>
            <a:srgbClr val="64748B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4672584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Nur-Code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690872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56632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 nur im Code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690872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056632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gewünscht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690872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56632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schnelle Logik-Fixes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8019288" y="2103120"/>
            <a:ext cx="3456432" cy="2651760"/>
          </a:xfrm>
          <a:prstGeom prst="rect">
            <a:avLst/>
          </a:prstGeom>
          <a:solidFill>
            <a:srgbClr val="F6F9FB"/>
          </a:solidFill>
          <a:ln w="12700">
            <a:solidFill>
              <a:srgbClr val="E8EDF2"/>
            </a:solidFill>
            <a:prstDash val="solid"/>
          </a:ln>
          <a:effectLst>
            <a:outerShdw blurRad="152400" dist="38100" dir="8100000" algn="bl" rotWithShape="0">
              <a:srgbClr val="0F2540">
                <a:alpha val="10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3" name="Shape 21"/>
          <p:cNvSpPr/>
          <p:nvPr/>
        </p:nvSpPr>
        <p:spPr>
          <a:xfrm>
            <a:off x="8019288" y="2103120"/>
            <a:ext cx="3456432" cy="640080"/>
          </a:xfrm>
          <a:prstGeom prst="rect">
            <a:avLst/>
          </a:prstGeom>
          <a:solidFill>
            <a:srgbClr val="E07A5F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8293608" y="2103120"/>
            <a:ext cx="2999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311896" y="297180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677656" y="2971800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 Setup möglich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11896" y="34838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8677656" y="3483864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Browser-LLM da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311896" y="3995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7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8677656" y="3995928"/>
            <a:ext cx="2542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Einmal-Korrekturen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502920" y="6400800"/>
            <a:ext cx="109728" cy="109728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11277295" y="6291072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586</Words>
  <Application>Microsoft Office PowerPoint</Application>
  <PresentationFormat>Breitbild</PresentationFormat>
  <Paragraphs>197</Paragraphs>
  <Slides>14</Slides>
  <Notes>14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14</vt:i4>
      </vt:variant>
    </vt:vector>
  </HeadingPairs>
  <TitlesOfParts>
    <vt:vector size="18" baseType="lpstr">
      <vt:lpstr>Arial</vt:lpstr>
      <vt:lpstr>Calibri</vt:lpstr>
      <vt:lpstr>Georgia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 Context Protocol (MCP) – Effiziente KI-Integration</dc:title>
  <dc:subject>PptxGenJS Presentation</dc:subject>
  <dc:creator>Andreas Pointner, Sebastian Kaltenegger</dc:creator>
  <cp:lastModifiedBy>Pointner Andreas - s2410307029</cp:lastModifiedBy>
  <cp:revision>16</cp:revision>
  <dcterms:created xsi:type="dcterms:W3CDTF">2026-06-19T13:39:04Z</dcterms:created>
  <dcterms:modified xsi:type="dcterms:W3CDTF">2026-06-20T09:24:56Z</dcterms:modified>
</cp:coreProperties>
</file>