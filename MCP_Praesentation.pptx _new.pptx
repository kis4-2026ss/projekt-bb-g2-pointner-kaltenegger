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charts/chart3.xml" ContentType="application/vnd.openxmlformats-officedocument.drawingml.chart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EEA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6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Prompts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969-4AD0-9EC5-68325111F333}"/>
              </c:ext>
            </c:extLst>
          </c:dPt>
          <c:dPt>
            <c:idx val="1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969-4AD0-9EC5-68325111F333}"/>
              </c:ext>
            </c:extLst>
          </c:dPt>
          <c:dPt>
            <c:idx val="2"/>
            <c:invertIfNegative val="0"/>
            <c:bubble3D val="0"/>
            <c:spPr>
              <a:solidFill>
                <a:srgbClr val="E07A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969-4AD0-9EC5-68325111F333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000" b="1" i="0" u="none" strike="noStrike">
                    <a:solidFill>
                      <a:srgbClr val="334155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WF1 · Nur Code</c:v>
                </c:pt>
                <c:pt idx="1">
                  <c:v>WF2 · MCP</c:v>
                </c:pt>
                <c:pt idx="2">
                  <c:v>WF3 · Chat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969-4AD0-9EC5-68325111F33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Minuten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E88-4F04-B4BA-6D3ED434050C}"/>
              </c:ext>
            </c:extLst>
          </c:dPt>
          <c:dPt>
            <c:idx val="1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E88-4F04-B4BA-6D3ED434050C}"/>
              </c:ext>
            </c:extLst>
          </c:dPt>
          <c:dPt>
            <c:idx val="2"/>
            <c:invertIfNegative val="0"/>
            <c:bubble3D val="0"/>
            <c:spPr>
              <a:solidFill>
                <a:srgbClr val="E07A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E88-4F04-B4BA-6D3ED434050C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334155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WF1 · Nur Code</c:v>
                </c:pt>
                <c:pt idx="1">
                  <c:v>WF2 · MCP</c:v>
                </c:pt>
                <c:pt idx="2">
                  <c:v>WF3 · Chat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3</c:v>
                </c:pt>
                <c:pt idx="2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E88-4F04-B4BA-6D3ED434050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Input-Tokens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7BE-4F9E-B447-034957A404DD}"/>
              </c:ext>
            </c:extLst>
          </c:dPt>
          <c:dPt>
            <c:idx val="1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7BE-4F9E-B447-034957A404DD}"/>
              </c:ext>
            </c:extLst>
          </c:dPt>
          <c:dPt>
            <c:idx val="2"/>
            <c:invertIfNegative val="0"/>
            <c:bubble3D val="0"/>
            <c:spPr>
              <a:solidFill>
                <a:srgbClr val="E07A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7BE-4F9E-B447-034957A404D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334155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WF1 · Nur Code</c:v>
                </c:pt>
                <c:pt idx="1">
                  <c:v>WF2 · MCP</c:v>
                </c:pt>
                <c:pt idx="2">
                  <c:v>WF3 · Chat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449362</c:v>
                </c:pt>
                <c:pt idx="1">
                  <c:v>1514532</c:v>
                </c:pt>
                <c:pt idx="2">
                  <c:v>15784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7BE-4F9E-B447-034957A40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39661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2194560"/>
            <a:ext cx="5669280" cy="5669280"/>
          </a:xfrm>
          <a:prstGeom prst="ellipse">
            <a:avLst/>
          </a:prstGeom>
          <a:solidFill>
            <a:srgbClr val="16314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10104120" y="1554480"/>
            <a:ext cx="292608" cy="29260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11064240" y="2423160"/>
            <a:ext cx="201168" cy="201168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10561320" y="868680"/>
            <a:ext cx="164592" cy="164592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Shape 4"/>
          <p:cNvSpPr/>
          <p:nvPr/>
        </p:nvSpPr>
        <p:spPr>
          <a:xfrm>
            <a:off x="10241280" y="1691640"/>
            <a:ext cx="914400" cy="822960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Shape 5"/>
          <p:cNvSpPr/>
          <p:nvPr/>
        </p:nvSpPr>
        <p:spPr>
          <a:xfrm>
            <a:off x="10241280" y="1691640"/>
            <a:ext cx="393192" cy="0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822960" y="1600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 OÖ · KIS4 · GRUPPE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86384" y="214884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200" dirty="0">
                <a:solidFill>
                  <a:srgbClr val="5EEAD4"/>
                </a:solidFill>
              </a:rPr>
              <a:t>Frontend “Self-Healer”</a:t>
            </a:r>
          </a:p>
        </p:txBody>
      </p:sp>
      <p:sp>
        <p:nvSpPr>
          <p:cNvPr id="10" name="Text 8"/>
          <p:cNvSpPr/>
          <p:nvPr/>
        </p:nvSpPr>
        <p:spPr>
          <a:xfrm>
            <a:off x="822960" y="3127248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Effiziente KI-Integration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841248" y="4206240"/>
            <a:ext cx="274320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841248" y="4389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Andreas Pointner  ·  Sebastian Kaltenegger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wollen wir herausfinden?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11277295" y="517266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896C6053-6AB1-54D2-E6DE-6846634E378B}"/>
              </a:ext>
            </a:extLst>
          </p:cNvPr>
          <p:cNvSpPr/>
          <p:nvPr/>
        </p:nvSpPr>
        <p:spPr>
          <a:xfrm>
            <a:off x="6248095" y="2287157"/>
            <a:ext cx="5440680" cy="315468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AT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4B74BA6D-1197-9C5C-3BF5-39175116276B}"/>
              </a:ext>
            </a:extLst>
          </p:cNvPr>
          <p:cNvSpPr/>
          <p:nvPr/>
        </p:nvSpPr>
        <p:spPr>
          <a:xfrm>
            <a:off x="6476695" y="2470037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Unser Ziel</a:t>
            </a:r>
            <a:endParaRPr lang="en-US" sz="1500" dirty="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2849E954-8A70-01E5-D179-F7DBED91195D}"/>
              </a:ext>
            </a:extLst>
          </p:cNvPr>
          <p:cNvSpPr/>
          <p:nvPr/>
        </p:nvSpPr>
        <p:spPr>
          <a:xfrm>
            <a:off x="6476695" y="2808365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Workflows rein datengestützt vergleichen – anhand eines identischen Sets von Frontend-Fehlern. Gemessen wird an vier Kernmetriken:</a:t>
            </a:r>
            <a:endParaRPr lang="en-US" sz="1300" dirty="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22438A74-19FB-99F9-B323-AA14A75980C6}"/>
              </a:ext>
            </a:extLst>
          </p:cNvPr>
          <p:cNvSpPr/>
          <p:nvPr/>
        </p:nvSpPr>
        <p:spPr>
          <a:xfrm>
            <a:off x="6476695" y="3695333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AT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D6B00169-4677-25C7-4773-602E1B69484B}"/>
              </a:ext>
            </a:extLst>
          </p:cNvPr>
          <p:cNvSpPr/>
          <p:nvPr/>
        </p:nvSpPr>
        <p:spPr>
          <a:xfrm>
            <a:off x="6476695" y="36953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274D2DE2-2F55-DCF8-B86C-61BEB1FE5EC2}"/>
              </a:ext>
            </a:extLst>
          </p:cNvPr>
          <p:cNvSpPr/>
          <p:nvPr/>
        </p:nvSpPr>
        <p:spPr>
          <a:xfrm>
            <a:off x="6842455" y="3622181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Token-Verbrauch   </a:t>
            </a: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Kostenvergleich (Input + Output)</a:t>
            </a:r>
            <a:endParaRPr lang="en-US" sz="1250" dirty="0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8514495B-A600-72F0-F30D-5836964AA66F}"/>
              </a:ext>
            </a:extLst>
          </p:cNvPr>
          <p:cNvSpPr/>
          <p:nvPr/>
        </p:nvSpPr>
        <p:spPr>
          <a:xfrm>
            <a:off x="6476695" y="4115957"/>
            <a:ext cx="256032" cy="256032"/>
          </a:xfrm>
          <a:prstGeom prst="ellipse">
            <a:avLst/>
          </a:prstGeom>
          <a:solidFill>
            <a:srgbClr val="0F2540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AT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0DD13594-7517-E373-6B4F-8502296E11D5}"/>
              </a:ext>
            </a:extLst>
          </p:cNvPr>
          <p:cNvSpPr/>
          <p:nvPr/>
        </p:nvSpPr>
        <p:spPr>
          <a:xfrm>
            <a:off x="6476695" y="411595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CC0429A1-3519-14F7-9B04-3723C2EDE014}"/>
              </a:ext>
            </a:extLst>
          </p:cNvPr>
          <p:cNvSpPr/>
          <p:nvPr/>
        </p:nvSpPr>
        <p:spPr>
          <a:xfrm>
            <a:off x="6842455" y="4042805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Fehlerbehebungsquote   </a:t>
            </a: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viele der Bugs wirklich behoben?</a:t>
            </a:r>
            <a:endParaRPr lang="en-US" sz="1250" dirty="0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C411E660-C96F-E903-76C2-F2CE201C0C0C}"/>
              </a:ext>
            </a:extLst>
          </p:cNvPr>
          <p:cNvSpPr/>
          <p:nvPr/>
        </p:nvSpPr>
        <p:spPr>
          <a:xfrm>
            <a:off x="6476695" y="4536581"/>
            <a:ext cx="256032" cy="256032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AT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1F6EF589-7E53-C00E-8EB8-30EA408D828C}"/>
              </a:ext>
            </a:extLst>
          </p:cNvPr>
          <p:cNvSpPr/>
          <p:nvPr/>
        </p:nvSpPr>
        <p:spPr>
          <a:xfrm>
            <a:off x="6476695" y="453658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17E419D9-01CD-74F6-D377-8EF697A912A8}"/>
              </a:ext>
            </a:extLst>
          </p:cNvPr>
          <p:cNvSpPr/>
          <p:nvPr/>
        </p:nvSpPr>
        <p:spPr>
          <a:xfrm>
            <a:off x="6842455" y="4463429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Menschliche Interaktionen   </a:t>
            </a: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oft muss der Mensch eingreifen?</a:t>
            </a:r>
            <a:endParaRPr lang="en-US" sz="1250" dirty="0"/>
          </a:p>
        </p:txBody>
      </p:sp>
      <p:sp>
        <p:nvSpPr>
          <p:cNvPr id="24" name="Shape 19">
            <a:extLst>
              <a:ext uri="{FF2B5EF4-FFF2-40B4-BE49-F238E27FC236}">
                <a16:creationId xmlns:a16="http://schemas.microsoft.com/office/drawing/2014/main" id="{E36CC503-11A7-5079-5439-6D1F38570E60}"/>
              </a:ext>
            </a:extLst>
          </p:cNvPr>
          <p:cNvSpPr/>
          <p:nvPr/>
        </p:nvSpPr>
        <p:spPr>
          <a:xfrm>
            <a:off x="6476695" y="4957205"/>
            <a:ext cx="256032" cy="256032"/>
          </a:xfrm>
          <a:prstGeom prst="ellipse">
            <a:avLst/>
          </a:prstGeom>
          <a:solidFill>
            <a:srgbClr val="E07A5F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AT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023E9DD1-3948-D3FA-C3DA-FA143C025A9C}"/>
              </a:ext>
            </a:extLst>
          </p:cNvPr>
          <p:cNvSpPr/>
          <p:nvPr/>
        </p:nvSpPr>
        <p:spPr>
          <a:xfrm>
            <a:off x="6476695" y="49572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27785C79-0EB9-E30C-7BF6-2C77C3DE4021}"/>
              </a:ext>
            </a:extLst>
          </p:cNvPr>
          <p:cNvSpPr/>
          <p:nvPr/>
        </p:nvSpPr>
        <p:spPr>
          <a:xfrm>
            <a:off x="6842455" y="4884053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Bearbeitungszeit   </a:t>
            </a: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Vom Fehlerbericht bis zum sauberen Build</a:t>
            </a:r>
            <a:endParaRPr lang="en-US" sz="1250" dirty="0"/>
          </a:p>
        </p:txBody>
      </p:sp>
      <p:sp>
        <p:nvSpPr>
          <p:cNvPr id="27" name="Shape 4">
            <a:extLst>
              <a:ext uri="{FF2B5EF4-FFF2-40B4-BE49-F238E27FC236}">
                <a16:creationId xmlns:a16="http://schemas.microsoft.com/office/drawing/2014/main" id="{B85F23BE-532B-ABD2-369C-AEB942B14EA2}"/>
              </a:ext>
            </a:extLst>
          </p:cNvPr>
          <p:cNvSpPr/>
          <p:nvPr/>
        </p:nvSpPr>
        <p:spPr>
          <a:xfrm>
            <a:off x="655320" y="2307295"/>
            <a:ext cx="5440680" cy="3134541"/>
          </a:xfrm>
          <a:prstGeom prst="rect">
            <a:avLst/>
          </a:prstGeom>
          <a:solidFill>
            <a:srgbClr val="0F2540"/>
          </a:solidFill>
          <a:ln/>
          <a:effectLst>
            <a:outerShdw blurRad="114300" dist="38100" dir="8100000" algn="bl" rotWithShape="0">
              <a:srgbClr val="0F2540">
                <a:alpha val="16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AT"/>
          </a:p>
        </p:txBody>
      </p:sp>
      <p:sp>
        <p:nvSpPr>
          <p:cNvPr id="28" name="Text 5">
            <a:extLst>
              <a:ext uri="{FF2B5EF4-FFF2-40B4-BE49-F238E27FC236}">
                <a16:creationId xmlns:a16="http://schemas.microsoft.com/office/drawing/2014/main" id="{81FCFAA9-9C95-DE3B-558F-0740DFF51E5E}"/>
              </a:ext>
            </a:extLst>
          </p:cNvPr>
          <p:cNvSpPr/>
          <p:nvPr/>
        </p:nvSpPr>
        <p:spPr>
          <a:xfrm>
            <a:off x="929640" y="341082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5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LEITFRAGE</a:t>
            </a:r>
            <a:endParaRPr lang="en-US" sz="1050" dirty="0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C42C4F4D-1816-B753-B161-EA52D7E94A46}"/>
              </a:ext>
            </a:extLst>
          </p:cNvPr>
          <p:cNvSpPr/>
          <p:nvPr/>
        </p:nvSpPr>
        <p:spPr>
          <a:xfrm>
            <a:off x="929640" y="3686189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8000"/>
              </a:lnSpc>
              <a:buNone/>
            </a:pPr>
            <a:r>
              <a:rPr lang="en-US" sz="155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Welcher KI-Workflow bietet die beste Balance aus Korrektheit, UI-Qualität und Kosteneffizienz?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LLM ohne Kontext ist blind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457200" cy="457200"/>
          </a:xfrm>
          <a:prstGeom prst="ellipse">
            <a:avLst/>
          </a:prstGeom>
          <a:solidFill>
            <a:srgbClr val="FDECEC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63040" y="21031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Laufzeit-Fehler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24048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Konsolen-Errors bleiben unsichtbar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2990088"/>
            <a:ext cx="457200" cy="457200"/>
          </a:xfrm>
          <a:prstGeom prst="ellipse">
            <a:avLst/>
          </a:prstGeom>
          <a:solidFill>
            <a:srgbClr val="FDECEC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822960" y="2990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63040" y="29443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gerendertes UI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63040" y="32461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&amp; Styles werden nicht gesehen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831336"/>
            <a:ext cx="457200" cy="457200"/>
          </a:xfrm>
          <a:prstGeom prst="ellipse">
            <a:avLst/>
          </a:prstGeom>
          <a:solidFill>
            <a:srgbClr val="FDECEC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3" name="Text 11"/>
          <p:cNvSpPr/>
          <p:nvPr/>
        </p:nvSpPr>
        <p:spPr>
          <a:xfrm>
            <a:off x="822960" y="3831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63040" y="378561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Selbst-Prüfung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63040" y="40873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Mensch muss jede Korrektur testen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949440" y="251460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6949440" y="25146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052560" y="2286000"/>
            <a:ext cx="0" cy="1371600"/>
          </a:xfrm>
          <a:prstGeom prst="line">
            <a:avLst/>
          </a:prstGeom>
          <a:noFill/>
          <a:ln w="25400">
            <a:solidFill>
              <a:srgbClr val="E2A6A6"/>
            </a:solidFill>
            <a:prstDash val="dash"/>
          </a:ln>
        </p:spPr>
        <p:txBody>
          <a:bodyPr/>
          <a:lstStyle/>
          <a:p>
            <a:endParaRPr lang="de-AT"/>
          </a:p>
        </p:txBody>
      </p:sp>
      <p:sp>
        <p:nvSpPr>
          <p:cNvPr id="19" name="Shape 17"/>
          <p:cNvSpPr/>
          <p:nvPr/>
        </p:nvSpPr>
        <p:spPr>
          <a:xfrm>
            <a:off x="9464040" y="2286000"/>
            <a:ext cx="2194560" cy="438912"/>
          </a:xfrm>
          <a:prstGeom prst="rect">
            <a:avLst/>
          </a:prstGeom>
          <a:solidFill>
            <a:srgbClr val="F6F9FB"/>
          </a:solidFill>
          <a:ln w="12700">
            <a:solidFill>
              <a:srgbClr val="F0C8C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9464040" y="228600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5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/ UI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464040" y="2852928"/>
            <a:ext cx="2194560" cy="438912"/>
          </a:xfrm>
          <a:prstGeom prst="rect">
            <a:avLst/>
          </a:prstGeom>
          <a:solidFill>
            <a:srgbClr val="F6F9FB"/>
          </a:solidFill>
          <a:ln w="12700">
            <a:solidFill>
              <a:srgbClr val="F0C8C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2" name="Text 20"/>
          <p:cNvSpPr/>
          <p:nvPr/>
        </p:nvSpPr>
        <p:spPr>
          <a:xfrm>
            <a:off x="9464040" y="285292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5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Konsolen-Logs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464040" y="3419856"/>
            <a:ext cx="2194560" cy="438912"/>
          </a:xfrm>
          <a:prstGeom prst="rect">
            <a:avLst/>
          </a:prstGeom>
          <a:solidFill>
            <a:srgbClr val="F6F9FB"/>
          </a:solidFill>
          <a:ln w="12700">
            <a:solidFill>
              <a:srgbClr val="F0C8C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4" name="Text 22"/>
          <p:cNvSpPr/>
          <p:nvPr/>
        </p:nvSpPr>
        <p:spPr>
          <a:xfrm>
            <a:off x="9464040" y="341985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5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DOM-Styles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36676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5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blockiert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9" name="Text 27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KONZEPT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ist MCP?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standardisierte Schnittstelle zwischen KI-Agent und Werkzeugen – der „USB-C-Stecker“ für KI.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30632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0F2540"/>
          </a:solidFill>
          <a:ln/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KI-Agent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2971800"/>
            <a:ext cx="2834640" cy="1097280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/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4663440" y="297180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MCP-Server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663440" y="4160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Browser-Controller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17520" y="3520440"/>
            <a:ext cx="164592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Shape 10"/>
          <p:cNvSpPr/>
          <p:nvPr/>
        </p:nvSpPr>
        <p:spPr>
          <a:xfrm>
            <a:off x="7498080" y="3520440"/>
            <a:ext cx="141732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3" name="Shape 11"/>
          <p:cNvSpPr/>
          <p:nvPr/>
        </p:nvSpPr>
        <p:spPr>
          <a:xfrm>
            <a:off x="7498080" y="3520440"/>
            <a:ext cx="141732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Shape 12"/>
          <p:cNvSpPr/>
          <p:nvPr/>
        </p:nvSpPr>
        <p:spPr>
          <a:xfrm>
            <a:off x="7498080" y="3520440"/>
            <a:ext cx="1417320" cy="77724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5" name="Shape 13"/>
          <p:cNvSpPr/>
          <p:nvPr/>
        </p:nvSpPr>
        <p:spPr>
          <a:xfrm>
            <a:off x="8915400" y="2468880"/>
            <a:ext cx="2468880" cy="548640"/>
          </a:xfrm>
          <a:prstGeom prst="rect">
            <a:avLst/>
          </a:prstGeom>
          <a:solidFill>
            <a:srgbClr val="F6F9FB"/>
          </a:solidFill>
          <a:ln w="1587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6" name="Text 14"/>
          <p:cNvSpPr/>
          <p:nvPr/>
        </p:nvSpPr>
        <p:spPr>
          <a:xfrm>
            <a:off x="8915400" y="2468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&amp; DOM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915400" y="3246120"/>
            <a:ext cx="2468880" cy="548640"/>
          </a:xfrm>
          <a:prstGeom prst="rect">
            <a:avLst/>
          </a:prstGeom>
          <a:solidFill>
            <a:srgbClr val="F6F9FB"/>
          </a:solidFill>
          <a:ln w="1587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8915400" y="3246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Konsolen-Logs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915400" y="4023360"/>
            <a:ext cx="2468880" cy="548640"/>
          </a:xfrm>
          <a:prstGeom prst="rect">
            <a:avLst/>
          </a:prstGeom>
          <a:solidFill>
            <a:srgbClr val="F6F9FB"/>
          </a:solidFill>
          <a:ln w="1587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8915400" y="40233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Dateisystem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4" name="Text 22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Shape 12">
            <a:extLst>
              <a:ext uri="{FF2B5EF4-FFF2-40B4-BE49-F238E27FC236}">
                <a16:creationId xmlns:a16="http://schemas.microsoft.com/office/drawing/2014/main" id="{7E092102-6FAB-0284-4FC6-79FCB5FAFADC}"/>
              </a:ext>
            </a:extLst>
          </p:cNvPr>
          <p:cNvSpPr/>
          <p:nvPr/>
        </p:nvSpPr>
        <p:spPr>
          <a:xfrm flipV="1">
            <a:off x="7498080" y="2807207"/>
            <a:ext cx="1417320" cy="713231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Versuchsaufbau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313558" y="1783080"/>
            <a:ext cx="9587680" cy="777240"/>
          </a:xfrm>
          <a:prstGeom prst="roundRect">
            <a:avLst>
              <a:gd name="adj" fmla="val 7059"/>
            </a:avLst>
          </a:prstGeom>
          <a:solidFill>
            <a:srgbClr val="0F2540"/>
          </a:solidFill>
          <a:ln/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4160520" y="178308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Fehlerhafte Basis-App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Bugs · identische Codebasis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194560" y="2560320"/>
            <a:ext cx="0" cy="50292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Shape 5"/>
          <p:cNvSpPr/>
          <p:nvPr/>
        </p:nvSpPr>
        <p:spPr>
          <a:xfrm>
            <a:off x="777240" y="3108960"/>
            <a:ext cx="2834640" cy="1783080"/>
          </a:xfrm>
          <a:prstGeom prst="rect">
            <a:avLst/>
          </a:prstGeom>
          <a:solidFill>
            <a:srgbClr val="F6F9FB"/>
          </a:solidFill>
          <a:ln w="12700">
            <a:solidFill>
              <a:srgbClr val="E8EDF2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8" name="Shape 6"/>
          <p:cNvSpPr/>
          <p:nvPr/>
        </p:nvSpPr>
        <p:spPr>
          <a:xfrm>
            <a:off x="777240" y="3108960"/>
            <a:ext cx="73152" cy="178308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1051560" y="32918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5156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Nur Code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051560" y="41148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Text-Dateien, kein Zugriff auf App oder Logs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80760" y="2560320"/>
            <a:ext cx="0" cy="50292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3" name="Shape 11"/>
          <p:cNvSpPr/>
          <p:nvPr/>
        </p:nvSpPr>
        <p:spPr>
          <a:xfrm>
            <a:off x="4663440" y="3108960"/>
            <a:ext cx="2834640" cy="1783080"/>
          </a:xfrm>
          <a:prstGeom prst="rect">
            <a:avLst/>
          </a:prstGeom>
          <a:solidFill>
            <a:srgbClr val="F6F9FB"/>
          </a:solidFill>
          <a:ln w="12700">
            <a:solidFill>
              <a:srgbClr val="E8EDF2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4" name="Shape 12"/>
          <p:cNvSpPr/>
          <p:nvPr/>
        </p:nvSpPr>
        <p:spPr>
          <a:xfrm>
            <a:off x="4663440" y="3108960"/>
            <a:ext cx="73152" cy="1783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4937760" y="32918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93776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MCP-Server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937760" y="41148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liest Logs &amp; DOM, patcht und testet selbst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966960" y="2560320"/>
            <a:ext cx="0" cy="502920"/>
          </a:xfrm>
          <a:prstGeom prst="line">
            <a:avLst/>
          </a:prstGeom>
          <a:noFill/>
          <a:ln w="25400">
            <a:solidFill>
              <a:srgbClr val="E07A5F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9" name="Shape 17"/>
          <p:cNvSpPr/>
          <p:nvPr/>
        </p:nvSpPr>
        <p:spPr>
          <a:xfrm>
            <a:off x="8549640" y="3108960"/>
            <a:ext cx="2834640" cy="1783080"/>
          </a:xfrm>
          <a:prstGeom prst="rect">
            <a:avLst/>
          </a:prstGeom>
          <a:solidFill>
            <a:srgbClr val="F6F9FB"/>
          </a:solidFill>
          <a:ln w="12700">
            <a:solidFill>
              <a:srgbClr val="E8EDF2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0" name="Shape 18"/>
          <p:cNvSpPr/>
          <p:nvPr/>
        </p:nvSpPr>
        <p:spPr>
          <a:xfrm>
            <a:off x="8549640" y="3108960"/>
            <a:ext cx="73152" cy="178308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8823960" y="32918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3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82396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 + Screenshots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823960" y="41148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Code-Text plus manuelle PNG-Screenshots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7" name="Text 25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FEHLER-SET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injizierte Fehler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21031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645920" y="2212848"/>
            <a:ext cx="2587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Funktional / Logik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880360"/>
            <a:ext cx="3364992" cy="0"/>
          </a:xfrm>
          <a:prstGeom prst="line">
            <a:avLst/>
          </a:prstGeom>
          <a:noFill/>
          <a:ln w="19050">
            <a:solidFill>
              <a:srgbClr val="E8EDF2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Shape 5"/>
          <p:cNvSpPr/>
          <p:nvPr/>
        </p:nvSpPr>
        <p:spPr>
          <a:xfrm>
            <a:off x="822960" y="3118104"/>
            <a:ext cx="118872" cy="118872"/>
          </a:xfrm>
          <a:prstGeom prst="ellipse">
            <a:avLst/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1097280" y="30266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Falsches Löschen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22960" y="3575304"/>
            <a:ext cx="118872" cy="118872"/>
          </a:xfrm>
          <a:prstGeom prst="ellipse">
            <a:avLst/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1097280" y="34838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Massen-Update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4032504"/>
            <a:ext cx="118872" cy="118872"/>
          </a:xfrm>
          <a:prstGeom prst="ellipse">
            <a:avLst/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1097280" y="39410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Fehlende Validierung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4489704"/>
            <a:ext cx="118872" cy="118872"/>
          </a:xfrm>
          <a:prstGeom prst="ellipse">
            <a:avLst/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1097280" y="43982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Kaputte Filter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398264" y="21031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5266944" y="2212848"/>
            <a:ext cx="2587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/ Responsive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398264" y="2880360"/>
            <a:ext cx="3364992" cy="0"/>
          </a:xfrm>
          <a:prstGeom prst="line">
            <a:avLst/>
          </a:prstGeom>
          <a:noFill/>
          <a:ln w="19050">
            <a:solidFill>
              <a:srgbClr val="E8EDF2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8" name="Shape 16"/>
          <p:cNvSpPr/>
          <p:nvPr/>
        </p:nvSpPr>
        <p:spPr>
          <a:xfrm>
            <a:off x="4443984" y="3118104"/>
            <a:ext cx="118872" cy="11887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9" name="Text 17"/>
          <p:cNvSpPr/>
          <p:nvPr/>
        </p:nvSpPr>
        <p:spPr>
          <a:xfrm>
            <a:off x="4718304" y="30266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Text-Overflow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443984" y="3575304"/>
            <a:ext cx="118872" cy="11887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4718304" y="34838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Überlappende Header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443984" y="4032504"/>
            <a:ext cx="118872" cy="11887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3" name="Text 21"/>
          <p:cNvSpPr/>
          <p:nvPr/>
        </p:nvSpPr>
        <p:spPr>
          <a:xfrm>
            <a:off x="4718304" y="39410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Zerstörte Buttons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019288" y="21031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8887968" y="2212848"/>
            <a:ext cx="2587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Ungestylte UI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019288" y="2880360"/>
            <a:ext cx="3364992" cy="0"/>
          </a:xfrm>
          <a:prstGeom prst="line">
            <a:avLst/>
          </a:prstGeom>
          <a:noFill/>
          <a:ln w="19050">
            <a:solidFill>
              <a:srgbClr val="E8EDF2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7" name="Shape 25"/>
          <p:cNvSpPr/>
          <p:nvPr/>
        </p:nvSpPr>
        <p:spPr>
          <a:xfrm>
            <a:off x="8065008" y="3118104"/>
            <a:ext cx="118872" cy="118872"/>
          </a:xfrm>
          <a:prstGeom prst="ellipse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8" name="Text 26"/>
          <p:cNvSpPr/>
          <p:nvPr/>
        </p:nvSpPr>
        <p:spPr>
          <a:xfrm>
            <a:off x="8339328" y="30266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Fälligkeitsdatum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065008" y="3575304"/>
            <a:ext cx="118872" cy="118872"/>
          </a:xfrm>
          <a:prstGeom prst="ellipse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0" name="Text 28"/>
          <p:cNvSpPr/>
          <p:nvPr/>
        </p:nvSpPr>
        <p:spPr>
          <a:xfrm>
            <a:off x="8339328" y="34838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Dropdown-Priorität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8065008" y="4032504"/>
            <a:ext cx="118872" cy="118872"/>
          </a:xfrm>
          <a:prstGeom prst="ellipse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2" name="Text 30"/>
          <p:cNvSpPr/>
          <p:nvPr/>
        </p:nvSpPr>
        <p:spPr>
          <a:xfrm>
            <a:off x="8339328" y="39410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„Liste leeren“-Button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6" name="Text 34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Nur Code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600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 </a:t>
            </a: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 mit Zugriff auf den src-Ordner – ohne laufende App oder Konsole.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7724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gut lief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4937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&amp; build selbst ausgeführt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Sehr schnelle Antwortzeiten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 im Browser testbar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5508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schwierig war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92240" y="2743200"/>
            <a:ext cx="4937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UI-Probleme nicht selbst erkannt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mussten explizit benannt werden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Iteration manuell getestet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53712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 min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330184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~449 k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Input-Tokens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MCP-Server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600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 </a:t>
            </a: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 + Playwright MCP – der Agent lädt die App, prüft DOM &amp; Konsole selbst.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7724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gut lief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4937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Verifiziert sich selbst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Öffnet Browser &amp; testet autonom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Wenigste Prompts, schnellste Zeit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5508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schwierig war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92240" y="2743200"/>
            <a:ext cx="4937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dennoch präzise benennen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Höchster Token-Verbrauch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Einmaliges Setup nötig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53712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 min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330184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59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Tool-Calls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 + Screenshots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600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 </a:t>
            </a: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 Studio – Code-Text und manuelle PNG-Screenshots in den Chat geladen.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7724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gut lief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4937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Setup nötig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Kurze Antwortzeiten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Nachvollziehbare Erklärungen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5508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schwierig war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92240" y="2743200"/>
            <a:ext cx="4937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Code-Einfügen mühsam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&amp; Uploads zeitaufwendig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Design-Probleme kaum selbst erkannt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53712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~15 min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330184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~20,6 k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 Ende behebt jeder Workflow alle Fehler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VORHER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5120640" cy="1280160"/>
          </a:xfrm>
          <a:prstGeom prst="rect">
            <a:avLst/>
          </a:prstGeom>
          <a:solidFill>
            <a:srgbClr val="F6F9FB"/>
          </a:solidFill>
          <a:ln w="12700">
            <a:solidFill>
              <a:srgbClr val="F0C8C8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pic>
        <p:nvPicPr>
          <p:cNvPr id="6" name="Image 0" descr="/sessions/ecstatic-serene-galileo/mnt/outputs/img/bef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395728"/>
            <a:ext cx="4846320" cy="5760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0175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Ungestylter Button, leere Liste, Header überlappt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355080" y="1783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NACHHER  ·  WF 2 · MCP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355080" y="2103120"/>
            <a:ext cx="5120640" cy="2788920"/>
          </a:xfrm>
          <a:prstGeom prst="rect">
            <a:avLst/>
          </a:prstGeom>
          <a:solidFill>
            <a:srgbClr val="F6F9FB"/>
          </a:solidFill>
          <a:ln w="15875">
            <a:solidFill>
              <a:srgbClr val="5EEAD4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pic>
        <p:nvPicPr>
          <p:cNvPr id="10" name="Image 1" descr="/sessions/ecstatic-serene-galileo/mnt/outputs/img/after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537960" y="2240280"/>
            <a:ext cx="4754880" cy="2514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3657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/ 10</a:t>
            </a:r>
            <a:endParaRPr lang="en-US" sz="4400" dirty="0"/>
          </a:p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behoben – in jedem Workflow</a:t>
            </a:r>
            <a:endParaRPr lang="en-US" sz="4400" dirty="0"/>
          </a:p>
        </p:txBody>
      </p:sp>
      <p:sp>
        <p:nvSpPr>
          <p:cNvPr id="14" name="Shape 10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1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· METRIK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Wenigste menschliche Interaktionen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194560" y="2011680"/>
          <a:ext cx="777240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2194560" y="5074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Benötigte Prompts bis zur fehlerfreien App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6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· METRIK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Kürzeste Bearbeitungszeit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777240" y="1920240"/>
          <a:ext cx="73152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777240" y="5029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Gesamtbearbeitungszeit in Minuten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503920" y="24688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5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5×</a:t>
            </a:r>
            <a:endParaRPr lang="en-US" sz="5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als der Chat-Workflow erreichte MCP das Ziel.</a:t>
            </a:r>
            <a:endParaRPr lang="en-US" sz="5000" dirty="0"/>
          </a:p>
        </p:txBody>
      </p:sp>
      <p:sp>
        <p:nvSpPr>
          <p:cNvPr id="9" name="Shape 6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0" name="Text 7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· METRIK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Token-Verbrauch: der Trade-off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777240" y="1920240"/>
          <a:ext cx="73152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777240" y="5029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Verbrauchte Input-Tokens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503920" y="1920240"/>
            <a:ext cx="2926080" cy="3108960"/>
          </a:xfrm>
          <a:prstGeom prst="rect">
            <a:avLst/>
          </a:prstGeom>
          <a:solidFill>
            <a:srgbClr val="FEF7E6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Text 4"/>
          <p:cNvSpPr/>
          <p:nvPr/>
        </p:nvSpPr>
        <p:spPr>
          <a:xfrm>
            <a:off x="8778240" y="2240280"/>
            <a:ext cx="2468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kostet am meisten Tokens.
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Tokens sind billig, Menschenzeit teuer. Der Chat spart Tokens – und verliert bei der Zeit.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1" name="Text 8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EMPFEHLUNG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Wann was nutzen?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103120"/>
            <a:ext cx="3456432" cy="2651760"/>
          </a:xfrm>
          <a:prstGeom prst="rect">
            <a:avLst/>
          </a:prstGeom>
          <a:solidFill>
            <a:srgbClr val="F6F9FB"/>
          </a:solidFill>
          <a:ln w="12700">
            <a:solidFill>
              <a:srgbClr val="E8EDF2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3456432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1051560" y="2103120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69848" y="29718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35608" y="297180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Entwicklung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69848" y="34838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35608" y="348386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Laufzeit-Verhalten zählt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69848" y="39959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35608" y="3995928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 teurer als Tokens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398264" y="2103120"/>
            <a:ext cx="3456432" cy="2651760"/>
          </a:xfrm>
          <a:prstGeom prst="rect">
            <a:avLst/>
          </a:prstGeom>
          <a:solidFill>
            <a:srgbClr val="F6F9FB"/>
          </a:solidFill>
          <a:ln w="12700">
            <a:solidFill>
              <a:srgbClr val="E8EDF2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4" name="Shape 12"/>
          <p:cNvSpPr/>
          <p:nvPr/>
        </p:nvSpPr>
        <p:spPr>
          <a:xfrm>
            <a:off x="4398264" y="2103120"/>
            <a:ext cx="3456432" cy="64008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4672584" y="2103120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Nur-Code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90872" y="29718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56632" y="297180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nur im Code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690872" y="34838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056632" y="348386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Setup gewünscht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690872" y="39959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56632" y="3995928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 Logik-Fixes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019288" y="2103120"/>
            <a:ext cx="3456432" cy="2651760"/>
          </a:xfrm>
          <a:prstGeom prst="rect">
            <a:avLst/>
          </a:prstGeom>
          <a:solidFill>
            <a:srgbClr val="F6F9FB"/>
          </a:solidFill>
          <a:ln w="12700">
            <a:solidFill>
              <a:srgbClr val="E8EDF2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3" name="Shape 21"/>
          <p:cNvSpPr/>
          <p:nvPr/>
        </p:nvSpPr>
        <p:spPr>
          <a:xfrm>
            <a:off x="8019288" y="2103120"/>
            <a:ext cx="3456432" cy="64008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4" name="Text 22"/>
          <p:cNvSpPr/>
          <p:nvPr/>
        </p:nvSpPr>
        <p:spPr>
          <a:xfrm>
            <a:off x="8293608" y="2103120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311896" y="29718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677656" y="297180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Setup möglich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311896" y="34838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677656" y="348386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Browser-LLM da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311896" y="39959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677656" y="3995928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Einmal-Korrekturen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4" name="Text 32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587</Words>
  <Application>Microsoft Office PowerPoint</Application>
  <PresentationFormat>Breitbild</PresentationFormat>
  <Paragraphs>196</Paragraphs>
  <Slides>14</Slides>
  <Notes>14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 Context Protocol (MCP) – Effiziente KI-Integration</dc:title>
  <dc:subject>PptxGenJS Presentation</dc:subject>
  <dc:creator>Andreas Pointner, Sebastian Kaltenegger</dc:creator>
  <cp:lastModifiedBy>Kaltenegger Sebastian - s2410307017</cp:lastModifiedBy>
  <cp:revision>8</cp:revision>
  <dcterms:created xsi:type="dcterms:W3CDTF">2026-06-19T13:39:04Z</dcterms:created>
  <dcterms:modified xsi:type="dcterms:W3CDTF">2026-06-19T14:15:00Z</dcterms:modified>
</cp:coreProperties>
</file>